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19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99339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9DA4"/>
                </a:solidFill>
                <a:latin typeface="微軟正黑體"/>
              </a:rPr>
              <a:t>韌體開發效率提案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395728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微軟正黑體"/>
              </a:rPr>
              <a:t>sensAI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456432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0">
                <a:solidFill>
                  <a:srgbClr val="FFFFFF"/>
                </a:solidFill>
                <a:latin typeface="微軟正黑體"/>
              </a:rPr>
              <a:t>ARM / Andes AndeStar V5 韌體專用的 AI Code Review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A8C4D8"/>
                </a:solidFill>
                <a:latin typeface="微軟正黑體"/>
              </a:rPr>
              <a:t>把團隊的硬體知識寫成規則，在存檔當下就攔下缺陷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4572000"/>
            <a:ext cx="2194560" cy="22860"/>
          </a:xfrm>
          <a:prstGeom prst="rect">
            <a:avLst/>
          </a:prstGeom>
          <a:solidFill>
            <a:srgbClr val="119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864608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A8C4D8"/>
                </a:solidFill>
                <a:latin typeface="微軟正黑體"/>
              </a:rPr>
              <a:t>VS Code 擴充　v0.5.1　·　已在實機專案驗證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A8C4D8"/>
                </a:solidFill>
                <a:latin typeface="微軟正黑體"/>
              </a:rPr>
              <a:t>報告人：kevin.tsou　·　2026 年 9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19DA4"/>
                </a:solidFill>
                <a:latin typeface="微軟正黑體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02A43"/>
                </a:solidFill>
                <a:latin typeface="微軟正黑體"/>
              </a:rPr>
              <a:t>一頁摘要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1064240" cy="11430"/>
          </a:xfrm>
          <a:prstGeom prst="rect">
            <a:avLst/>
          </a:prstGeom>
          <a:solidFill>
            <a:srgbClr val="D8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35508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B7B"/>
                </a:solidFill>
                <a:latin typeface="微軟正黑體"/>
              </a:rPr>
              <a:t>sensAI ｜ 韌體 AI Code Review ｜ v0.5.1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55080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B7B"/>
                </a:solidFill>
                <a:latin typeface="微軟正黑體"/>
              </a:rP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572768"/>
            <a:ext cx="2606040" cy="120700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572768"/>
            <a:ext cx="34290" cy="1207008"/>
          </a:xfrm>
          <a:prstGeom prst="rect">
            <a:avLst/>
          </a:prstGeom>
          <a:solidFill>
            <a:srgbClr val="119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700784"/>
            <a:ext cx="229514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D18616"/>
                </a:solidFill>
                <a:latin typeface="微軟正黑體"/>
              </a:rPr>
              <a:t>7 個月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194560"/>
            <a:ext cx="229514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B2633"/>
                </a:solidFill>
                <a:latin typeface="微軟正黑體"/>
              </a:rPr>
              <a:t>實戰命中的潛伏缺陷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B6B7B"/>
                </a:solidFill>
                <a:latin typeface="微軟正黑體"/>
              </a:rPr>
              <a:t>一行被註解掉的 return，存檔後 66 秒攔下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55848" y="1572768"/>
            <a:ext cx="2606040" cy="120700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55848" y="1572768"/>
            <a:ext cx="34290" cy="1207008"/>
          </a:xfrm>
          <a:prstGeom prst="rect">
            <a:avLst/>
          </a:prstGeom>
          <a:solidFill>
            <a:srgbClr val="119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57016" y="1700784"/>
            <a:ext cx="229514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02A43"/>
                </a:solidFill>
                <a:latin typeface="微軟正黑體"/>
              </a:rPr>
              <a:t>66 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57016" y="2194560"/>
            <a:ext cx="229514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B2633"/>
                </a:solidFill>
                <a:latin typeface="微軟正黑體"/>
              </a:rPr>
              <a:t>單檔完整審查耗時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B6B7B"/>
                </a:solidFill>
                <a:latin typeface="微軟正黑體"/>
              </a:rPr>
              <a:t>自動觸發、背景執行，不影響編輯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44768" y="1572768"/>
            <a:ext cx="2606040" cy="120700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44768" y="1572768"/>
            <a:ext cx="34290" cy="1207008"/>
          </a:xfrm>
          <a:prstGeom prst="rect">
            <a:avLst/>
          </a:prstGeom>
          <a:solidFill>
            <a:srgbClr val="119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45936" y="1700784"/>
            <a:ext cx="229514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02A43"/>
                </a:solidFill>
                <a:latin typeface="微軟正黑體"/>
              </a:rPr>
              <a:t>10 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2194560"/>
            <a:ext cx="229514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B2633"/>
                </a:solidFill>
                <a:latin typeface="微軟正黑體"/>
              </a:rPr>
              <a:t>團隊硬體規則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B6B7B"/>
                </a:solidFill>
                <a:latin typeface="微軟正黑體"/>
              </a:rPr>
              <a:t>DMA cache／W1C／ISR／ABI，隨專案進版控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33688" y="1572768"/>
            <a:ext cx="2697480" cy="120700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33688" y="1572768"/>
            <a:ext cx="34290" cy="1207008"/>
          </a:xfrm>
          <a:prstGeom prst="rect">
            <a:avLst/>
          </a:prstGeom>
          <a:solidFill>
            <a:srgbClr val="119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34856" y="1700784"/>
            <a:ext cx="238658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02A43"/>
                </a:solidFill>
                <a:latin typeface="微軟正黑體"/>
              </a:rPr>
              <a:t>0 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34856" y="2194560"/>
            <a:ext cx="238658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B2633"/>
                </a:solidFill>
                <a:latin typeface="微軟正黑體"/>
              </a:rPr>
              <a:t>外購授權成本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B6B7B"/>
                </a:solidFill>
                <a:latin typeface="微軟正黑體"/>
              </a:rPr>
              <a:t>自行開發，96 項自動化測試全數通過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054096"/>
            <a:ext cx="11064240" cy="93268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" y="3200400"/>
            <a:ext cx="10515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19DA4"/>
                </a:solidFill>
                <a:latin typeface="微軟正黑體"/>
              </a:rPr>
              <a:t>問題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B2633"/>
                </a:solidFill>
                <a:latin typeface="微軟正黑體"/>
              </a:rPr>
              <a:t>韌體缺陷的代價不在「寫錯」，在「三天後才在板子上發現」。DMA cache、W1C 暫存器、ISR 安全性、組語 ABI 這類問題屬於各專案的硬體知識，通用 AI 工具與 code review 都不一定看得出來。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114800"/>
            <a:ext cx="5394960" cy="1993392"/>
          </a:xfrm>
          <a:prstGeom prst="rect">
            <a:avLst/>
          </a:prstGeom>
          <a:noFill/>
          <a:ln w="12700">
            <a:solidFill>
              <a:srgbClr val="D8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" y="4279392"/>
            <a:ext cx="49377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19DA4"/>
                </a:solidFill>
                <a:latin typeface="微軟正黑體"/>
              </a:rPr>
              <a:t>做法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1B2633"/>
                </a:solidFill>
                <a:latin typeface="微軟正黑體"/>
              </a:rPr>
              <a:t>・把團隊的硬體慣例寫成自然語言規則，隨專案進版控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1B2633"/>
                </a:solidFill>
                <a:latin typeface="微軟正黑體"/>
              </a:rPr>
              <a:t>・存檔且相對 git HEAD 有改動時自動審查，無需人工操作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1B2633"/>
                </a:solidFill>
                <a:latin typeface="微軟正黑體"/>
              </a:rPr>
              <a:t>・每則意見必須交代觸發條件、後果、程式碼依據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1B2633"/>
                </a:solidFill>
                <a:latin typeface="微軟正黑體"/>
              </a:rPr>
              <a:t>・只提供意見、不畫紅線、不自動改碼 —— 判斷權留在工程師手上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36208" y="4114800"/>
            <a:ext cx="5394960" cy="1993392"/>
          </a:xfrm>
          <a:prstGeom prst="rect">
            <a:avLst/>
          </a:prstGeom>
          <a:noFill/>
          <a:ln w="12700">
            <a:solidFill>
              <a:srgbClr val="D8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0528" y="4279392"/>
            <a:ext cx="49377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19DA4"/>
                </a:solidFill>
                <a:latin typeface="微軟正黑體"/>
              </a:rPr>
              <a:t>目前狀態與請求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1B2633"/>
                </a:solidFill>
                <a:latin typeface="微軟正黑體"/>
              </a:rPr>
              <a:t>・v0.5.1 已可安裝使用，實機專案已驗證出真實缺陷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1B2633"/>
                </a:solidFill>
                <a:latin typeface="微軟正黑體"/>
              </a:rPr>
              <a:t>・開發至今 14 天、45 次提交、3,603 行程式碼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1B2633"/>
                </a:solidFill>
                <a:latin typeface="微軟正黑體"/>
              </a:rPr>
              <a:t>・請求：指定 1〜2 個試行專案，由該專案負責人補齊規則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1B2633"/>
                </a:solidFill>
                <a:latin typeface="微軟正黑體"/>
              </a:rPr>
              <a:t>・請求：核配一組共用模型端點（CCR）供團隊連線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19DA4"/>
                </a:solidFill>
                <a:latin typeface="微軟正黑體"/>
              </a:rP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02A43"/>
                </a:solidFill>
                <a:latin typeface="微軟正黑體"/>
              </a:rPr>
              <a:t>為什麼韌體特別需要這件事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1064240" cy="11430"/>
          </a:xfrm>
          <a:prstGeom prst="rect">
            <a:avLst/>
          </a:prstGeom>
          <a:solidFill>
            <a:srgbClr val="D8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35508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B7B"/>
                </a:solidFill>
                <a:latin typeface="微軟正黑體"/>
              </a:rPr>
              <a:t>sensAI ｜ 韌體 AI Code Review ｜ v0.5.1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55080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B7B"/>
                </a:solidFill>
                <a:latin typeface="微軟正黑體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627632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02A43"/>
                </a:solidFill>
                <a:latin typeface="微軟正黑體"/>
              </a:rPr>
              <a:t>缺陷的發現點離寫錯的地方很遠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B6B7B"/>
                </a:solidFill>
                <a:latin typeface="微軟正黑體"/>
              </a:rPr>
              <a:t>DMA 搬到過期資料、W1C 一次清掉別人的旗標，這些問題在編譯階段完全合法，通常要等到板子上出現偶發異常才被察覺，重現成本極高。</a:t>
            </a:r>
          </a:p>
          <a:p>
            <a:pPr>
              <a:spcBef>
                <a:spcPts val="900"/>
              </a:spcBef>
              <a:spcAft>
                <a:spcPts val="200"/>
              </a:spcAft>
            </a:pPr>
            <a:r>
              <a:rPr sz="1500" b="1">
                <a:solidFill>
                  <a:srgbClr val="102A43"/>
                </a:solidFill>
                <a:latin typeface="微軟正黑體"/>
              </a:rPr>
              <a:t>通用 AI 工具不知道你的 SoC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B6B7B"/>
                </a:solidFill>
                <a:latin typeface="微軟正黑體"/>
              </a:rPr>
              <a:t>「D-cache 是 write-back」「STATUS 是 write-one-to-clear」「_isr 結尾的變數不算共享」—— 這些是專案知識，不在任何模型的訓練資料裡。</a:t>
            </a:r>
          </a:p>
          <a:p>
            <a:pPr>
              <a:spcBef>
                <a:spcPts val="900"/>
              </a:spcBef>
              <a:spcAft>
                <a:spcPts val="200"/>
              </a:spcAft>
            </a:pPr>
            <a:r>
              <a:rPr sz="1500" b="1">
                <a:solidFill>
                  <a:srgbClr val="102A43"/>
                </a:solidFill>
                <a:latin typeface="微軟正黑體"/>
              </a:rPr>
              <a:t>人工 code review 會漏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B6B7B"/>
                </a:solidFill>
                <a:latin typeface="微軟正黑體"/>
              </a:rPr>
              <a:t>右側是實際案例：一行被註解掉的 return，通過了 code review，在主線存活 7 個月。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627632"/>
            <a:ext cx="5230368" cy="41148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828800"/>
            <a:ext cx="46817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102A43"/>
                </a:solidFill>
                <a:latin typeface="微軟正黑體"/>
              </a:rPr>
              <a:t>實際案例：phal_sys.c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5120" y="2286000"/>
            <a:ext cx="4681728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432304"/>
            <a:ext cx="43891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B2633"/>
                </a:solidFill>
                <a:latin typeface="Consolas"/>
              </a:rPr>
              <a:t>U32 phal_sys_get_all_gpio_input_value(void)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5B6B7B"/>
                </a:solidFill>
                <a:latin typeface="Consolas"/>
              </a:rPr>
              <a:t>{    ...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D18616"/>
                </a:solidFill>
                <a:latin typeface="Consolas"/>
              </a:rPr>
              <a:t>    //return ulInput;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B7B"/>
                </a:solidFill>
                <a:latin typeface="Consolas"/>
              </a:rPr>
              <a:t>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703320"/>
            <a:ext cx="4681728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1B2633"/>
                </a:solidFill>
                <a:latin typeface="微軟正黑體"/>
              </a:rPr>
              <a:t>・宣告回傳 U32，卻沒有任何 return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1B2633"/>
                </a:solidFill>
                <a:latin typeface="微軟正黑體"/>
              </a:rPr>
              <a:t>・整個 GPIO 讀取迴圈會被編譯器整段優化掉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1B2633"/>
                </a:solidFill>
                <a:latin typeface="微軟正黑體"/>
              </a:rPr>
              <a:t>・呼叫端拿到的是暫存器殘值 —— 所有依賴 GPIO 輸入的判斷都建立在錯誤資料上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1B2633"/>
                </a:solidFill>
                <a:latin typeface="微軟正黑體"/>
              </a:rPr>
              <a:t>・git blame：7 個月前提交，至今仍在主線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19DA4"/>
                </a:solidFill>
                <a:latin typeface="微軟正黑體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02A43"/>
                </a:solidFill>
                <a:latin typeface="微軟正黑體"/>
              </a:rPr>
              <a:t>運作方式：六個步驟，全自動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1064240" cy="11430"/>
          </a:xfrm>
          <a:prstGeom prst="rect">
            <a:avLst/>
          </a:prstGeom>
          <a:solidFill>
            <a:srgbClr val="D8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35508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B7B"/>
                </a:solidFill>
                <a:latin typeface="微軟正黑體"/>
              </a:rPr>
              <a:t>sensAI ｜ 韌體 AI Code Review ｜ v0.5.1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55080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B7B"/>
                </a:solidFill>
                <a:latin typeface="微軟正黑體"/>
              </a:rP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700784"/>
            <a:ext cx="171907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00784"/>
            <a:ext cx="1719072" cy="64008"/>
          </a:xfrm>
          <a:prstGeom prst="rect">
            <a:avLst/>
          </a:prstGeom>
          <a:solidFill>
            <a:srgbClr val="119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29384"/>
            <a:ext cx="13898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9DA4"/>
                </a:solidFill>
                <a:latin typeface="微軟正黑體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322576"/>
            <a:ext cx="138988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02A43"/>
                </a:solidFill>
                <a:latin typeface="微軟正黑體"/>
              </a:rPr>
              <a:t>存檔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B6B7B"/>
                </a:solidFill>
                <a:latin typeface="微軟正黑體"/>
              </a:rPr>
              <a:t>偵測 .c / .h / .s / .S
相對 git HEAD 無改動即跳過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95525" y="2414016"/>
            <a:ext cx="1280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B0BCC8"/>
                </a:solidFill>
                <a:latin typeface="微軟正黑體"/>
              </a:rPr>
              <a:t>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14016" y="1700784"/>
            <a:ext cx="171907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414016" y="1700784"/>
            <a:ext cx="1719072" cy="64008"/>
          </a:xfrm>
          <a:prstGeom prst="rect">
            <a:avLst/>
          </a:prstGeom>
          <a:solidFill>
            <a:srgbClr val="119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78608" y="1929384"/>
            <a:ext cx="13898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9DA4"/>
                </a:solidFill>
                <a:latin typeface="微軟正黑體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78608" y="2322576"/>
            <a:ext cx="138988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02A43"/>
                </a:solidFill>
                <a:latin typeface="微軟正黑體"/>
              </a:rPr>
              <a:t>組上下文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B6B7B"/>
                </a:solidFill>
                <a:latin typeface="微軟正黑體"/>
              </a:rPr>
              <a:t>解析專案內 #include
深度 2、上限 120 KB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42613" y="2414016"/>
            <a:ext cx="1280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B0BCC8"/>
                </a:solidFill>
                <a:latin typeface="微軟正黑體"/>
              </a:rP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61104" y="1700784"/>
            <a:ext cx="171907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61104" y="1700784"/>
            <a:ext cx="1719072" cy="64008"/>
          </a:xfrm>
          <a:prstGeom prst="rect">
            <a:avLst/>
          </a:prstGeom>
          <a:solidFill>
            <a:srgbClr val="119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25696" y="1929384"/>
            <a:ext cx="13898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9DA4"/>
                </a:solidFill>
                <a:latin typeface="微軟正黑體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25696" y="2322576"/>
            <a:ext cx="138988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02A43"/>
                </a:solidFill>
                <a:latin typeface="微軟正黑體"/>
              </a:rPr>
              <a:t>套規則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B6B7B"/>
                </a:solidFill>
                <a:latin typeface="微軟正黑體"/>
              </a:rPr>
              <a:t>依語言挑選 rules.yaml
組語另外注入 ABI 事實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701" y="2414016"/>
            <a:ext cx="1280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B0BCC8"/>
                </a:solidFill>
                <a:latin typeface="微軟正黑體"/>
              </a:rPr>
              <a:t>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08192" y="1700784"/>
            <a:ext cx="171907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08192" y="1700784"/>
            <a:ext cx="1719072" cy="64008"/>
          </a:xfrm>
          <a:prstGeom prst="rect">
            <a:avLst/>
          </a:prstGeom>
          <a:solidFill>
            <a:srgbClr val="119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72784" y="1929384"/>
            <a:ext cx="13898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9DA4"/>
                </a:solidFill>
                <a:latin typeface="微軟正黑體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2784" y="2322576"/>
            <a:ext cx="138988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02A43"/>
                </a:solidFill>
                <a:latin typeface="微軟正黑體"/>
              </a:rPr>
              <a:t>模型審查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B6B7B"/>
                </a:solidFill>
                <a:latin typeface="微軟正黑體"/>
              </a:rPr>
              <a:t>經 Claude Code Router
以 tool use 取回結構化結果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36789" y="2414016"/>
            <a:ext cx="1280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B0BCC8"/>
                </a:solidFill>
                <a:latin typeface="微軟正黑體"/>
              </a:rPr>
              <a:t>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55280" y="1700784"/>
            <a:ext cx="171907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55280" y="1700784"/>
            <a:ext cx="1719072" cy="64008"/>
          </a:xfrm>
          <a:prstGeom prst="rect">
            <a:avLst/>
          </a:prstGeom>
          <a:solidFill>
            <a:srgbClr val="119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19872" y="1929384"/>
            <a:ext cx="13898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9DA4"/>
                </a:solidFill>
                <a:latin typeface="微軟正黑體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19872" y="2322576"/>
            <a:ext cx="138988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02A43"/>
                </a:solidFill>
                <a:latin typeface="微軟正黑體"/>
              </a:rPr>
              <a:t>過濾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B6B7B"/>
                </a:solidFill>
                <a:latin typeface="微軟正黑體"/>
              </a:rPr>
              <a:t>依據引用不到實際識別字者
直接濾除，不顯示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83877" y="2414016"/>
            <a:ext cx="1280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B0BCC8"/>
                </a:solidFill>
                <a:latin typeface="微軟正黑體"/>
              </a:rPr>
              <a:t>›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802368" y="1700784"/>
            <a:ext cx="171907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802368" y="1700784"/>
            <a:ext cx="1719072" cy="64008"/>
          </a:xfrm>
          <a:prstGeom prst="rect">
            <a:avLst/>
          </a:prstGeom>
          <a:solidFill>
            <a:srgbClr val="119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66960" y="1929384"/>
            <a:ext cx="138988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9DA4"/>
                </a:solidFill>
                <a:latin typeface="微軟正黑體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66960" y="2322576"/>
            <a:ext cx="138988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>
                <a:solidFill>
                  <a:srgbClr val="102A43"/>
                </a:solidFill>
                <a:latin typeface="微軟正黑體"/>
              </a:rPr>
              <a:t>面板呈現</a:t>
            </a: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B6B7B"/>
                </a:solidFill>
                <a:latin typeface="微軟正黑體"/>
              </a:rPr>
              <a:t>側欄列出意見
不畫錯誤紅線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" y="3840480"/>
            <a:ext cx="11064240" cy="192024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404164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102A43"/>
                </a:solidFill>
                <a:latin typeface="微軟正黑體"/>
              </a:rPr>
              <a:t>三層節流：不會因為頻繁存檔就狂送請求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" y="4480560"/>
            <a:ext cx="32461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19DA4"/>
                </a:solidFill>
                <a:latin typeface="微軟正黑體"/>
              </a:rPr>
              <a:t>去抖動 1,000 ms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B2633"/>
                </a:solidFill>
                <a:latin typeface="微軟正黑體"/>
              </a:rPr>
              <a:t>存檔後等 1 秒沒有新存檔才送出。打字期間幾乎不送任何請求。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53128" y="4480560"/>
            <a:ext cx="32461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19DA4"/>
                </a:solidFill>
                <a:latin typeface="微軟正黑體"/>
              </a:rPr>
              <a:t>合併重跑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B2633"/>
                </a:solidFill>
                <a:latin typeface="微軟正黑體"/>
              </a:rPr>
              <a:t>同一檔案同時只跑一輪；期間進來的存檔合併成一次補跑，用最新內容。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37576" y="4480560"/>
            <a:ext cx="32461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19DA4"/>
                </a:solidFill>
                <a:latin typeface="微軟正黑體"/>
              </a:rPr>
              <a:t>連續觸發時降級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B2633"/>
                </a:solidFill>
                <a:latin typeface="微軟正黑體"/>
              </a:rPr>
              <a:t>連打期間只看改動的行，停下來後自動補做完整審查 —— 是延後，不是放棄。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19DA4"/>
                </a:solidFill>
                <a:latin typeface="微軟正黑體"/>
              </a:rPr>
              <a:t>KEY DESIGN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02A43"/>
                </a:solidFill>
                <a:latin typeface="微軟正黑體"/>
              </a:rPr>
              <a:t>差異化不在 AI，在規則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1064240" cy="11430"/>
          </a:xfrm>
          <a:prstGeom prst="rect">
            <a:avLst/>
          </a:prstGeom>
          <a:solidFill>
            <a:srgbClr val="D8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35508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B7B"/>
                </a:solidFill>
                <a:latin typeface="微軟正黑體"/>
              </a:rPr>
              <a:t>sensAI ｜ 韌體 AI Code Review ｜ v0.5.1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55080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B7B"/>
                </a:solidFill>
                <a:latin typeface="微軟正黑體"/>
              </a:rPr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557403" y="1618107"/>
            <a:ext cx="6877050" cy="3772230"/>
          </a:xfrm>
          <a:prstGeom prst="rect">
            <a:avLst/>
          </a:prstGeom>
          <a:noFill/>
          <a:ln w="9525">
            <a:solidFill>
              <a:srgbClr val="8A97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27632"/>
            <a:ext cx="6858000" cy="37531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54406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B6B7B"/>
                </a:solidFill>
                <a:latin typeface="微軟正黑體"/>
              </a:rPr>
              <a:t>實機畫面：.sensai/rules.yaml —— 規則以自然語言撰寫，隨專案進版控，git pull 即生效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1664208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02A43"/>
                </a:solidFill>
                <a:latin typeface="微軟正黑體"/>
              </a:rPr>
              <a:t>規則是團隊資產，不是工具的一部分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B6B7B"/>
                </a:solidFill>
                <a:latin typeface="微軟正黑體"/>
              </a:rPr>
              <a:t>規則放在專案 repo，不隨擴充散布，也不會外流。人員異動時，硬體慣例留在版控裡。</a:t>
            </a:r>
          </a:p>
          <a:p>
            <a:pPr>
              <a:spcBef>
                <a:spcPts val="1200"/>
              </a:spcBef>
              <a:spcAft>
                <a:spcPts val="200"/>
              </a:spcAft>
            </a:pPr>
            <a:r>
              <a:rPr sz="1400" b="1">
                <a:solidFill>
                  <a:srgbClr val="102A43"/>
                </a:solidFill>
                <a:latin typeface="微軟正黑體"/>
              </a:rPr>
              <a:t>不需要 DSL、不需要 AST matcher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B6B7B"/>
                </a:solidFill>
                <a:latin typeface="微軟正黑體"/>
              </a:rPr>
              <a:t>判斷者是模型，規則直接用中文寫。一組正反範例對準確度的提升，遠大於把規則寫更長。</a:t>
            </a:r>
          </a:p>
          <a:p>
            <a:pPr>
              <a:spcBef>
                <a:spcPts val="1200"/>
              </a:spcBef>
              <a:spcAft>
                <a:spcPts val="200"/>
              </a:spcAft>
            </a:pPr>
            <a:r>
              <a:rPr sz="1400" b="1">
                <a:solidFill>
                  <a:srgbClr val="102A43"/>
                </a:solidFill>
                <a:latin typeface="微軟正黑體"/>
              </a:rPr>
              <a:t>except 讓「不該報什麼」同案管理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B6B7B"/>
                </a:solidFill>
                <a:latin typeface="微軟正黑體"/>
              </a:rPr>
              <a:t>誤報的修正方式是改規則，不是關掉工具 —— 規則會越用越準。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26679" y="5010912"/>
            <a:ext cx="3904487" cy="896112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79" y="517550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02A43"/>
                </a:solidFill>
                <a:latin typeface="微軟正黑體"/>
              </a:rPr>
              <a:t>目前 10 條規則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6B7B"/>
                </a:solidFill>
                <a:latin typeface="微軟正黑體"/>
              </a:rPr>
              <a:t>error 8 條 · warning 2 條 ｜ 另內建 2 組架構 ABI 事實（riscv32-andes-v5、armv7e-m）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19DA4"/>
                </a:solidFill>
                <a:latin typeface="微軟正黑體"/>
              </a:rPr>
              <a:t>KEY DESIGN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02A43"/>
                </a:solidFill>
                <a:latin typeface="微軟正黑體"/>
              </a:rPr>
              <a:t>每則意見都要說得出「為什麼」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1064240" cy="11430"/>
          </a:xfrm>
          <a:prstGeom prst="rect">
            <a:avLst/>
          </a:prstGeom>
          <a:solidFill>
            <a:srgbClr val="D8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35508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B7B"/>
                </a:solidFill>
                <a:latin typeface="微軟正黑體"/>
              </a:rPr>
              <a:t>sensAI ｜ 韌體 AI Code Review ｜ v0.5.1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55080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B7B"/>
                </a:solidFill>
                <a:latin typeface="微軟正黑體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627632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B2633"/>
                </a:solidFill>
                <a:latin typeface="微軟正黑體"/>
              </a:rPr>
              <a:t>AI 最大的風險是講得頭頭是道但其實是錯的。sensAI 用結構強制模型交代清楚 —— 說不出具體失效情境的意見，模型自己就不會提。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395728"/>
            <a:ext cx="6583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2395728"/>
            <a:ext cx="57150" cy="1005840"/>
          </a:xfrm>
          <a:prstGeom prst="rect">
            <a:avLst/>
          </a:prstGeom>
          <a:solidFill>
            <a:srgbClr val="119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542032"/>
            <a:ext cx="60350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2A43"/>
                </a:solidFill>
                <a:latin typeface="微軟正黑體"/>
              </a:rPr>
              <a:t>觸發條件　—　什麼情況下會出事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B7B"/>
                </a:solidFill>
                <a:latin typeface="微軟正黑體"/>
              </a:rPr>
              <a:t>「編譯器的控制流程走到函式結尾時…」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538728"/>
            <a:ext cx="6583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3538728"/>
            <a:ext cx="57150" cy="1005840"/>
          </a:xfrm>
          <a:prstGeom prst="rect">
            <a:avLst/>
          </a:prstGeom>
          <a:solidFill>
            <a:srgbClr val="D18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685032"/>
            <a:ext cx="60350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2A43"/>
                </a:solidFill>
                <a:latin typeface="微軟正黑體"/>
              </a:rPr>
              <a:t>後果　—　會造成什麼影響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B7B"/>
                </a:solidFill>
                <a:latin typeface="微軟正黑體"/>
              </a:rPr>
              <a:t>「呼叫端拿到暫存器殘值，判斷建立在錯誤資料上」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681728"/>
            <a:ext cx="6583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4681728"/>
            <a:ext cx="57150" cy="1005840"/>
          </a:xfrm>
          <a:prstGeom prst="rect">
            <a:avLst/>
          </a:prstGeom>
          <a:solidFill>
            <a:srgbClr val="1C4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828032"/>
            <a:ext cx="60350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02A43"/>
                </a:solidFill>
                <a:latin typeface="微軟正黑體"/>
              </a:rPr>
              <a:t>依據　—　引用檔案中實際存在的行號與識別字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B6B7B"/>
                </a:solidFill>
                <a:latin typeface="微軟正黑體"/>
              </a:rPr>
              <a:t>「第 315 行 //return ulInput；第 306 行函式簽名」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06640" y="2395728"/>
            <a:ext cx="4224528" cy="329184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9248" y="2606040"/>
            <a:ext cx="365760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102A43"/>
                </a:solidFill>
                <a:latin typeface="微軟正黑體"/>
              </a:rPr>
              <a:t>三道防線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sz="1300" b="1">
                <a:solidFill>
                  <a:srgbClr val="119DA4"/>
                </a:solidFill>
                <a:latin typeface="微軟正黑體"/>
              </a:rPr>
              <a:t>① 結構約束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B2633"/>
                </a:solidFill>
                <a:latin typeface="微軟正黑體"/>
              </a:rPr>
              <a:t>欄位填不滿就提不出意見，「建議加強錯誤處理」這類正確但無用的話會自己消失。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300" b="1">
                <a:solidFill>
                  <a:srgbClr val="119DA4"/>
                </a:solidFill>
                <a:latin typeface="微軟正黑體"/>
              </a:rPr>
              <a:t>② 事後過濾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B2633"/>
                </a:solidFill>
                <a:latin typeface="微軟正黑體"/>
              </a:rPr>
              <a:t>依據引用不到檔案中真實存在的識別字者，直接濾除、不顯示。</a:t>
            </a:r>
          </a:p>
          <a:p>
            <a:pPr>
              <a:spcBef>
                <a:spcPts val="1000"/>
              </a:spcBef>
              <a:spcAft>
                <a:spcPts val="300"/>
              </a:spcAft>
            </a:pPr>
            <a:r>
              <a:rPr sz="1300" b="1">
                <a:solidFill>
                  <a:srgbClr val="119DA4"/>
                </a:solidFill>
                <a:latin typeface="微軟正黑體"/>
              </a:rPr>
              <a:t>③ 呈現方式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B2633"/>
                </a:solidFill>
                <a:latin typeface="微軟正黑體"/>
              </a:rPr>
              <a:t>結果只進側欄，不畫編輯器紅線 —— 紅線是斷言，AI 給不起那個確定性。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19DA4"/>
                </a:solidFill>
                <a:latin typeface="微軟正黑體"/>
              </a:rP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02A43"/>
                </a:solidFill>
                <a:latin typeface="微軟正黑體"/>
              </a:rPr>
              <a:t>實機畫面：存檔即審查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1064240" cy="11430"/>
          </a:xfrm>
          <a:prstGeom prst="rect">
            <a:avLst/>
          </a:prstGeom>
          <a:solidFill>
            <a:srgbClr val="D8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35508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B7B"/>
                </a:solidFill>
                <a:latin typeface="微軟正黑體"/>
              </a:rPr>
              <a:t>sensAI ｜ 韌體 AI Code Review ｜ v0.5.1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55080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B7B"/>
                </a:solidFill>
                <a:latin typeface="微軟正黑體"/>
              </a:rPr>
              <a:t>7</a:t>
            </a:r>
          </a:p>
        </p:txBody>
      </p:sp>
      <p:sp>
        <p:nvSpPr>
          <p:cNvPr id="9" name="Rectangle 8"/>
          <p:cNvSpPr/>
          <p:nvPr/>
        </p:nvSpPr>
        <p:spPr>
          <a:xfrm>
            <a:off x="557403" y="1618107"/>
            <a:ext cx="7608570" cy="4576552"/>
          </a:xfrm>
          <a:prstGeom prst="rect">
            <a:avLst/>
          </a:prstGeom>
          <a:noFill/>
          <a:ln w="9525">
            <a:solidFill>
              <a:srgbClr val="8A97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627632"/>
            <a:ext cx="7589520" cy="455750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6236208"/>
            <a:ext cx="7589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B6B7B"/>
                </a:solidFill>
                <a:latin typeface="微軟正黑體"/>
              </a:rPr>
              <a:t>實機畫面：範例檔 uart_dma.c —— 存檔後自動審查，6 則意見、附帶 3 個 header、8.4 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627632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02A43"/>
                </a:solidFill>
                <a:latin typeface="微軟正黑體"/>
              </a:rPr>
              <a:t>左：編輯器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B7B"/>
                </a:solidFill>
                <a:latin typeface="微軟正黑體"/>
              </a:rPr>
              <a:t>行號、程式碼原封不動 —— 不覆寫、不自動修改。</a:t>
            </a:r>
          </a:p>
          <a:p>
            <a:pPr>
              <a:spcBef>
                <a:spcPts val="1100"/>
              </a:spcBef>
              <a:spcAft>
                <a:spcPts val="200"/>
              </a:spcAft>
            </a:pPr>
            <a:r>
              <a:rPr sz="1300" b="1">
                <a:solidFill>
                  <a:srgbClr val="102A43"/>
                </a:solidFill>
                <a:latin typeface="微軟正黑體"/>
              </a:rPr>
              <a:t>右：sensAI 側欄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B7B"/>
                </a:solidFill>
                <a:latin typeface="微軟正黑體"/>
              </a:rPr>
              <a:t>檔名、意見數、附帶 header 數、耗時、濾除數、產出時間，一行交代完。</a:t>
            </a:r>
          </a:p>
          <a:p>
            <a:pPr>
              <a:spcBef>
                <a:spcPts val="1100"/>
              </a:spcBef>
              <a:spcAft>
                <a:spcPts val="200"/>
              </a:spcAft>
            </a:pPr>
            <a:r>
              <a:rPr sz="1300" b="1">
                <a:solidFill>
                  <a:srgbClr val="102A43"/>
                </a:solidFill>
                <a:latin typeface="微軟正黑體"/>
              </a:rPr>
              <a:t>每則意見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B7B"/>
                </a:solidFill>
                <a:latin typeface="微軟正黑體"/>
              </a:rPr>
              <a:t>嚴重度、行號（可點擊跳轉）、命中的規則 id，再加觸發條件／後果／依據。</a:t>
            </a:r>
          </a:p>
          <a:p>
            <a:pPr>
              <a:spcBef>
                <a:spcPts val="1100"/>
              </a:spcBef>
              <a:spcAft>
                <a:spcPts val="200"/>
              </a:spcAft>
            </a:pPr>
            <a:r>
              <a:rPr sz="1300" b="1">
                <a:solidFill>
                  <a:srgbClr val="102A43"/>
                </a:solidFill>
                <a:latin typeface="微軟正黑體"/>
              </a:rPr>
              <a:t>兩個按鈕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B7B"/>
                </a:solidFill>
                <a:latin typeface="微軟正黑體"/>
              </a:rPr>
              <a:t>「釘選」把重要意見固定在頂部、跨重啟保留；「這是誤報」本機立即靜音並留下記錄供調規則。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19DA4"/>
                </a:solidFill>
                <a:latin typeface="微軟正黑體"/>
              </a:rPr>
              <a:t>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02A43"/>
                </a:solidFill>
                <a:latin typeface="微軟正黑體"/>
              </a:rPr>
              <a:t>實戰驗證：真實專案的真實缺陷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1064240" cy="11430"/>
          </a:xfrm>
          <a:prstGeom prst="rect">
            <a:avLst/>
          </a:prstGeom>
          <a:solidFill>
            <a:srgbClr val="D8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35508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B7B"/>
                </a:solidFill>
                <a:latin typeface="微軟正黑體"/>
              </a:rPr>
              <a:t>sensAI ｜ 韌體 AI Code Review ｜ v0.5.1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55080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B7B"/>
                </a:solidFill>
                <a:latin typeface="微軟正黑體"/>
              </a:rPr>
              <a:t>8</a:t>
            </a:r>
          </a:p>
        </p:txBody>
      </p:sp>
      <p:sp>
        <p:nvSpPr>
          <p:cNvPr id="9" name="Rectangle 8"/>
          <p:cNvSpPr/>
          <p:nvPr/>
        </p:nvSpPr>
        <p:spPr>
          <a:xfrm>
            <a:off x="557403" y="1581531"/>
            <a:ext cx="7608570" cy="3138430"/>
          </a:xfrm>
          <a:prstGeom prst="rect">
            <a:avLst/>
          </a:prstGeom>
          <a:noFill/>
          <a:ln w="9525">
            <a:solidFill>
              <a:srgbClr val="8A97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91056"/>
            <a:ext cx="7589520" cy="31193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4892040"/>
            <a:ext cx="7589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B6B7B"/>
                </a:solidFill>
                <a:latin typeface="微軟正黑體"/>
              </a:rPr>
              <a:t>實機畫面：ws_fw / ps5032 專案 phal_sys.c —— 存檔後自動審查，一則 error 命中第 315 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0" y="1591056"/>
            <a:ext cx="3218688" cy="1078992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12480" y="1591056"/>
            <a:ext cx="34290" cy="1078992"/>
          </a:xfrm>
          <a:prstGeom prst="rect">
            <a:avLst/>
          </a:prstGeom>
          <a:solidFill>
            <a:srgbClr val="119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13648" y="1719072"/>
            <a:ext cx="290779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D18616"/>
                </a:solidFill>
                <a:latin typeface="微軟正黑體"/>
              </a:rPr>
              <a:t>7 個月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13648" y="2212848"/>
            <a:ext cx="290779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B2633"/>
                </a:solidFill>
                <a:latin typeface="微軟正黑體"/>
              </a:rPr>
              <a:t>缺陷潛伏時間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B6B7B"/>
                </a:solidFill>
                <a:latin typeface="微軟正黑體"/>
              </a:rPr>
              <a:t>git blame：7 months ago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0" y="2779776"/>
            <a:ext cx="3218688" cy="1078992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12480" y="2779776"/>
            <a:ext cx="34290" cy="1078992"/>
          </a:xfrm>
          <a:prstGeom prst="rect">
            <a:avLst/>
          </a:prstGeom>
          <a:solidFill>
            <a:srgbClr val="119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13648" y="2907792"/>
            <a:ext cx="290779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02A43"/>
                </a:solidFill>
                <a:latin typeface="微軟正黑體"/>
              </a:rPr>
              <a:t>65.9 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13648" y="3401568"/>
            <a:ext cx="290779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B2633"/>
                </a:solidFill>
                <a:latin typeface="微軟正黑體"/>
              </a:rPr>
              <a:t>從存檔到看見結果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B6B7B"/>
                </a:solidFill>
                <a:latin typeface="微軟正黑體"/>
              </a:rPr>
              <a:t>附帶 18 個專案 header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12480" y="3968496"/>
            <a:ext cx="3218688" cy="1078992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12480" y="3968496"/>
            <a:ext cx="34290" cy="1078992"/>
          </a:xfrm>
          <a:prstGeom prst="rect">
            <a:avLst/>
          </a:prstGeom>
          <a:solidFill>
            <a:srgbClr val="119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13648" y="4096512"/>
            <a:ext cx="290779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02A43"/>
                </a:solidFill>
                <a:latin typeface="微軟正黑體"/>
              </a:rPr>
              <a:t>1 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13648" y="4590288"/>
            <a:ext cx="290779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B2633"/>
                </a:solidFill>
                <a:latin typeface="微軟正黑體"/>
              </a:rPr>
              <a:t>意見數（非洗版）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B6B7B"/>
                </a:solidFill>
                <a:latin typeface="微軟正黑體"/>
              </a:rPr>
              <a:t>同次審查未產生任何誤報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5230368"/>
            <a:ext cx="7589520" cy="86868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5376672"/>
            <a:ext cx="7040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119DA4"/>
                </a:solidFill>
                <a:latin typeface="微軟正黑體"/>
              </a:rPr>
              <a:t>這個缺陷的意義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2633"/>
                </a:solidFill>
                <a:latin typeface="微軟正黑體"/>
              </a:rPr>
              <a:t>它不是艱深的時序問題，而是一行被註解掉的 return —— 編譯器只給警告、code review 沒攔下、在主線活了 7 個月。這正是「人會漏、工具該補」的位置。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19DA4"/>
                </a:solidFill>
                <a:latin typeface="微軟正黑體"/>
              </a:rPr>
              <a:t>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02A43"/>
                </a:solidFill>
                <a:latin typeface="微軟正黑體"/>
              </a:rPr>
              <a:t>資安與治理：原始碼不會亂跑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1064240" cy="11430"/>
          </a:xfrm>
          <a:prstGeom prst="rect">
            <a:avLst/>
          </a:prstGeom>
          <a:solidFill>
            <a:srgbClr val="D8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35508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B7B"/>
                </a:solidFill>
                <a:latin typeface="微軟正黑體"/>
              </a:rPr>
              <a:t>sensAI ｜ 韌體 AI Code Review ｜ v0.5.1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55080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B7B"/>
                </a:solidFill>
                <a:latin typeface="微軟正黑體"/>
              </a:rPr>
              <a:t>9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645920"/>
            <a:ext cx="11064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645920"/>
            <a:ext cx="57150" cy="1024128"/>
          </a:xfrm>
          <a:prstGeom prst="rect">
            <a:avLst/>
          </a:prstGeom>
          <a:solidFill>
            <a:srgbClr val="119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92224"/>
            <a:ext cx="78638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102A43"/>
                </a:solidFill>
                <a:latin typeface="微軟正黑體"/>
              </a:rPr>
              <a:t>排除清單（never_send）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B2633"/>
                </a:solidFill>
                <a:latin typeface="微軟正黑體"/>
              </a:rPr>
              <a:t>以 glob 指定機密路徑。受審檔案或它引用到的任何 header 命中，整次審查直接跳過，不外送任何內容。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199339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6B7B"/>
                </a:solidFill>
                <a:latin typeface="Consolas"/>
              </a:rPr>
              <a:t>src/secure/**　**/crypto/**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779776"/>
            <a:ext cx="11064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2779776"/>
            <a:ext cx="57150" cy="1024128"/>
          </a:xfrm>
          <a:prstGeom prst="rect">
            <a:avLst/>
          </a:prstGeom>
          <a:solidFill>
            <a:srgbClr val="119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926080"/>
            <a:ext cx="78638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102A43"/>
                </a:solidFill>
                <a:latin typeface="微軟正黑體"/>
              </a:rPr>
              <a:t>稽核日誌（audit_log）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B2633"/>
                </a:solidFill>
                <a:latin typeface="微軟正黑體"/>
              </a:rPr>
              <a:t>每次對外請求都寫一筆記錄，含結果。v0.5.1 起改為「送出即記錄」—— 失敗的請求也留痕，因為它同樣已經送出過原始碼。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3127248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6B7B"/>
                </a:solidFill>
                <a:latin typeface="Consolas"/>
              </a:rPr>
              <a:t>.sensai/sent.log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3913632"/>
            <a:ext cx="11064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3913632"/>
            <a:ext cx="57150" cy="1024128"/>
          </a:xfrm>
          <a:prstGeom prst="rect">
            <a:avLst/>
          </a:prstGeom>
          <a:solidFill>
            <a:srgbClr val="119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059936"/>
            <a:ext cx="78638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102A43"/>
                </a:solidFill>
                <a:latin typeface="微軟正黑體"/>
              </a:rPr>
              <a:t>端點自行掌握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B2633"/>
                </a:solidFill>
                <a:latin typeface="微軟正黑體"/>
              </a:rPr>
              <a:t>模型端點由我方指定（Claude Code Router），可接內部或指定供應商；端點未啟動時靜默停用，不影響開發。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4261104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6B7B"/>
                </a:solidFill>
                <a:latin typeface="Consolas"/>
              </a:rPr>
              <a:t>sensai.endpoint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5047488"/>
            <a:ext cx="11064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5047488"/>
            <a:ext cx="57150" cy="1024128"/>
          </a:xfrm>
          <a:prstGeom prst="rect">
            <a:avLst/>
          </a:prstGeom>
          <a:solidFill>
            <a:srgbClr val="119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193792"/>
            <a:ext cx="78638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102A43"/>
                </a:solidFill>
                <a:latin typeface="微軟正黑體"/>
              </a:rPr>
              <a:t>規則不隨工具散布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B2633"/>
                </a:solidFill>
                <a:latin typeface="微軟正黑體"/>
              </a:rPr>
              <a:t>規則留在專案 repo 或部門私有 rules repository，不打包進擴充、不上架 Marketplace。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539496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6B7B"/>
                </a:solidFill>
                <a:latin typeface="Consolas"/>
              </a:rPr>
              <a:t>.sensai/rules.yaml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19963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B7B"/>
                </a:solidFill>
                <a:latin typeface="微軟正黑體"/>
              </a:rPr>
              <a:t>※ 未設定任何規則時，sensAI 只檢查語法與型別錯誤，不會做其他推論。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19DA4"/>
                </a:solidFill>
                <a:latin typeface="微軟正黑體"/>
              </a:rPr>
              <a:t>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02A43"/>
                </a:solidFill>
                <a:latin typeface="微軟正黑體"/>
              </a:rPr>
              <a:t>目前進度：已可使用，非概念驗證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1064240" cy="11430"/>
          </a:xfrm>
          <a:prstGeom prst="rect">
            <a:avLst/>
          </a:prstGeom>
          <a:solidFill>
            <a:srgbClr val="D8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35508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B7B"/>
                </a:solidFill>
                <a:latin typeface="微軟正黑體"/>
              </a:rPr>
              <a:t>sensAI ｜ 韌體 AI Code Review ｜ v0.5.1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55080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B7B"/>
                </a:solidFill>
                <a:latin typeface="微軟正黑體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627632"/>
            <a:ext cx="2651760" cy="120700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627632"/>
            <a:ext cx="34290" cy="1207008"/>
          </a:xfrm>
          <a:prstGeom prst="rect">
            <a:avLst/>
          </a:prstGeom>
          <a:solidFill>
            <a:srgbClr val="119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755648"/>
            <a:ext cx="234086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02A43"/>
                </a:solidFill>
                <a:latin typeface="微軟正黑體"/>
              </a:rPr>
              <a:t>14 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249424"/>
            <a:ext cx="23408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B2633"/>
                </a:solidFill>
                <a:latin typeface="微軟正黑體"/>
              </a:rPr>
              <a:t>從構想到可用版本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B6B7B"/>
                </a:solidFill>
                <a:latin typeface="微軟正黑體"/>
              </a:rPr>
              <a:t>2026/08/22 → 09/04　45 次提交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01568" y="1627632"/>
            <a:ext cx="2651760" cy="120700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1568" y="1627632"/>
            <a:ext cx="34290" cy="1207008"/>
          </a:xfrm>
          <a:prstGeom prst="rect">
            <a:avLst/>
          </a:prstGeom>
          <a:solidFill>
            <a:srgbClr val="119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2736" y="1755648"/>
            <a:ext cx="234086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02A43"/>
                </a:solidFill>
                <a:latin typeface="微軟正黑體"/>
              </a:rPr>
              <a:t>3,603 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2736" y="2249424"/>
            <a:ext cx="23408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B2633"/>
                </a:solidFill>
                <a:latin typeface="微軟正黑體"/>
              </a:rPr>
              <a:t>TypeScript　19 個模組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B6B7B"/>
                </a:solidFill>
                <a:latin typeface="微軟正黑體"/>
              </a:rPr>
              <a:t>另有 1,495 行測試程式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6208" y="1627632"/>
            <a:ext cx="2651760" cy="120700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627632"/>
            <a:ext cx="34290" cy="1207008"/>
          </a:xfrm>
          <a:prstGeom prst="rect">
            <a:avLst/>
          </a:prstGeom>
          <a:solidFill>
            <a:srgbClr val="119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37376" y="1755648"/>
            <a:ext cx="234086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02A43"/>
                </a:solidFill>
                <a:latin typeface="微軟正黑體"/>
              </a:rPr>
              <a:t>96 / 96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7376" y="2249424"/>
            <a:ext cx="23408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B2633"/>
                </a:solidFill>
                <a:latin typeface="微軟正黑體"/>
              </a:rPr>
              <a:t>自動化測試通過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B6B7B"/>
                </a:solidFill>
                <a:latin typeface="微軟正黑體"/>
              </a:rPr>
              <a:t>涵蓋差異判定、上下文、過濾、節流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70848" y="1627632"/>
            <a:ext cx="2560320" cy="120700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70848" y="1627632"/>
            <a:ext cx="34290" cy="1207008"/>
          </a:xfrm>
          <a:prstGeom prst="rect">
            <a:avLst/>
          </a:prstGeom>
          <a:solidFill>
            <a:srgbClr val="119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72016" y="1755648"/>
            <a:ext cx="2249424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02A43"/>
                </a:solidFill>
                <a:latin typeface="微軟正黑體"/>
              </a:rPr>
              <a:t>v0.5.1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72016" y="2249424"/>
            <a:ext cx="224942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B2633"/>
                </a:solidFill>
                <a:latin typeface="微軟正黑體"/>
              </a:rPr>
              <a:t>目前版本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B6B7B"/>
                </a:solidFill>
                <a:latin typeface="微軟正黑體"/>
              </a:rPr>
              <a:t>已可安裝於 VS Code 使用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31089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102A43"/>
                </a:solidFill>
                <a:latin typeface="微軟正黑體"/>
              </a:rPr>
              <a:t>已完成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B2633"/>
                </a:solidFill>
                <a:latin typeface="微軟正黑體"/>
              </a:rPr>
              <a:t>✓　存檔自動審查（C 與組語）、手動審查指令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B2633"/>
                </a:solidFill>
                <a:latin typeface="微軟正黑體"/>
              </a:rPr>
              <a:t>✓　專案 header 自動解析與上下文預算控管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B2633"/>
                </a:solidFill>
                <a:latin typeface="微軟正黑體"/>
              </a:rPr>
              <a:t>✓　規則引擎、語言過濾、ABI 事實注入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B2633"/>
                </a:solidFill>
                <a:latin typeface="微軟正黑體"/>
              </a:rPr>
              <a:t>✓　三層節流、審查取消、結果保留不閃爍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B2633"/>
                </a:solidFill>
                <a:latin typeface="微軟正黑體"/>
              </a:rPr>
              <a:t>✓　釘選與筆記、誤報靜音與匯出報告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1B2633"/>
                </a:solidFill>
                <a:latin typeface="微軟正黑體"/>
              </a:rPr>
              <a:t>✓　隱私排除清單與稽核日誌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310896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1">
                <a:solidFill>
                  <a:srgbClr val="102A43"/>
                </a:solidFill>
                <a:latin typeface="微軟正黑體"/>
              </a:rPr>
              <a:t>已知限制（誠實揭露）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B6B7B"/>
                </a:solidFill>
                <a:latin typeface="微軟正黑體"/>
              </a:rPr>
              <a:t>・多根工作區目前只讀取第一個資料夾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B6B7B"/>
                </a:solidFill>
                <a:latin typeface="微軟正黑體"/>
              </a:rPr>
              <a:t>・組語巨集不展開；上下文不足時要求模型保守不報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B6B7B"/>
                </a:solidFill>
                <a:latin typeface="微軟正黑體"/>
              </a:rPr>
              <a:t>・組語審查僅看單檔，抓不到跨檔的 C／組語簽章不一致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B6B7B"/>
                </a:solidFill>
                <a:latin typeface="微軟正黑體"/>
              </a:rPr>
              <a:t>・只提供意見，不產生也不套用修補程式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B6B7B"/>
                </a:solidFill>
                <a:latin typeface="微軟正黑體"/>
              </a:rPr>
              <a:t>・尚未累積足夠樣本計算「意見被實際修掉的比例」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19DA4"/>
                </a:solidFill>
                <a:latin typeface="微軟正黑體"/>
              </a:rPr>
              <a:t>MEASUREMENT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02A43"/>
                </a:solidFill>
                <a:latin typeface="微軟正黑體"/>
              </a:rPr>
              <a:t>如何驗證效益：量採納率，不量準確率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1064240" cy="11430"/>
          </a:xfrm>
          <a:prstGeom prst="rect">
            <a:avLst/>
          </a:prstGeom>
          <a:solidFill>
            <a:srgbClr val="D8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35508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B7B"/>
                </a:solidFill>
                <a:latin typeface="微軟正黑體"/>
              </a:rPr>
              <a:t>sensAI ｜ 韌體 AI Code Review ｜ v0.5.1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55080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B7B"/>
                </a:solidFill>
                <a:latin typeface="微軟正黑體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72768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B2633"/>
                </a:solidFill>
                <a:latin typeface="微軟正黑體"/>
              </a:rPr>
              <a:t>「準確率」需要知道程式碼裡到底有幾個 bug —— 那個答案永遠不存在，任何宣稱的準確率都是自己跟自己比。改量使用者用行動投票的結果。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103120"/>
            <a:ext cx="5376672" cy="3310128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28600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19DA4"/>
                </a:solidFill>
                <a:latin typeface="微軟正黑體"/>
              </a:rPr>
              <a:t>北極星指標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2633472"/>
            <a:ext cx="482803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798064"/>
            <a:ext cx="45902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02A43"/>
                </a:solidFill>
                <a:latin typeface="微軟正黑體"/>
              </a:rPr>
              <a:t>採納率　＝　被修掉的意見數　÷　提出的意見數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493008"/>
            <a:ext cx="48463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102A43"/>
                </a:solidFill>
                <a:latin typeface="微軟正黑體"/>
              </a:rPr>
              <a:t>為什麼可信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B7B"/>
                </a:solidFill>
                <a:latin typeface="微軟正黑體"/>
              </a:rPr>
              <a:t>工程師真的動手改了那行程式碼才算採納。沒有人會為了配合 KPI 去改自己的韌體。</a:t>
            </a:r>
          </a:p>
          <a:p>
            <a:pPr>
              <a:spcBef>
                <a:spcPts val="900"/>
              </a:spcBef>
              <a:spcAft>
                <a:spcPts val="300"/>
              </a:spcAft>
            </a:pPr>
            <a:r>
              <a:rPr sz="1250" b="1">
                <a:solidFill>
                  <a:srgbClr val="102A43"/>
                </a:solidFill>
                <a:latin typeface="微軟正黑體"/>
              </a:rPr>
              <a:t>怎麼判定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B7B"/>
                </a:solidFill>
                <a:latin typeface="微軟正黑體"/>
              </a:rPr>
              <a:t>比對前後兩輪審查的意見識別碼：消失、且那行程式碼已變動即為已修正。全自動，使用者不必按任何按鈕。</a:t>
            </a:r>
          </a:p>
          <a:p>
            <a:pPr>
              <a:spcBef>
                <a:spcPts val="900"/>
              </a:spcBef>
              <a:spcAft>
                <a:spcPts val="300"/>
              </a:spcAft>
            </a:pPr>
            <a:r>
              <a:rPr sz="1250" b="1">
                <a:solidFill>
                  <a:srgbClr val="102A43"/>
                </a:solidFill>
                <a:latin typeface="微軟正黑體"/>
              </a:rPr>
              <a:t>要補什麼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B6B7B"/>
                </a:solidFill>
                <a:latin typeface="微軟正黑體"/>
              </a:rPr>
              <a:t>現有稽核日誌記的是「請求」，不是「意見的下場」。需新增一份意見記錄檔與匯出指令。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54496" y="2103120"/>
            <a:ext cx="5376672" cy="3310128"/>
          </a:xfrm>
          <a:prstGeom prst="rect">
            <a:avLst/>
          </a:prstGeom>
          <a:noFill/>
          <a:ln w="12700">
            <a:solidFill>
              <a:srgbClr val="D8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28816" y="228600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19DA4"/>
                </a:solidFill>
                <a:latin typeface="微軟正黑體"/>
              </a:rPr>
              <a:t>指標分層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28816" y="2670048"/>
            <a:ext cx="932688" cy="566928"/>
          </a:xfrm>
          <a:prstGeom prst="rect">
            <a:avLst/>
          </a:prstGeom>
          <a:solidFill>
            <a:srgbClr val="119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28816" y="2834640"/>
            <a:ext cx="9326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微軟正黑體"/>
              </a:rPr>
              <a:t>北極星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07808" y="2706624"/>
            <a:ext cx="38404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02A43"/>
                </a:solidFill>
                <a:latin typeface="微軟正黑體"/>
              </a:rPr>
              <a:t>採納率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6B7B"/>
                </a:solidFill>
                <a:latin typeface="微軟正黑體"/>
              </a:rPr>
              <a:t>唯一不需要 ground truth 的價值證明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28816" y="3328416"/>
            <a:ext cx="932688" cy="566928"/>
          </a:xfrm>
          <a:prstGeom prst="rect">
            <a:avLst/>
          </a:prstGeom>
          <a:solidFill>
            <a:srgbClr val="1C4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28816" y="3493008"/>
            <a:ext cx="9326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微軟正黑體"/>
              </a:rPr>
              <a:t>領先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07808" y="3364992"/>
            <a:ext cx="38404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02A43"/>
                </a:solidFill>
                <a:latin typeface="微軟正黑體"/>
              </a:rPr>
              <a:t>每週活躍人數、每人每週採納數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6B7B"/>
                </a:solidFill>
                <a:latin typeface="微軟正黑體"/>
              </a:rPr>
              <a:t>兩週就看得出趨勢，不必等三個月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28816" y="3986784"/>
            <a:ext cx="932688" cy="566928"/>
          </a:xfrm>
          <a:prstGeom prst="rect">
            <a:avLst/>
          </a:prstGeom>
          <a:solidFill>
            <a:srgbClr val="1C4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28816" y="4151376"/>
            <a:ext cx="9326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微軟正黑體"/>
              </a:rPr>
              <a:t>落後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07808" y="4023360"/>
            <a:ext cx="38404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02A43"/>
                </a:solidFill>
                <a:latin typeface="微軟正黑體"/>
              </a:rPr>
              <a:t>規則命中分布、反覆被否決的規則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6B7B"/>
                </a:solidFill>
                <a:latin typeface="微軟正黑體"/>
              </a:rPr>
              <a:t>指出該補哪一條 except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28816" y="4645152"/>
            <a:ext cx="932688" cy="566928"/>
          </a:xfrm>
          <a:prstGeom prst="rect">
            <a:avLst/>
          </a:prstGeom>
          <a:solidFill>
            <a:srgbClr val="D18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28816" y="4809744"/>
            <a:ext cx="9326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微軟正黑體"/>
              </a:rPr>
              <a:t>護欄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07808" y="4681728"/>
            <a:ext cx="38404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02A43"/>
                </a:solidFill>
                <a:latin typeface="微軟正黑體"/>
              </a:rPr>
              <a:t>p95 延遲、每人每週誤報數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B6B7B"/>
                </a:solidFill>
                <a:latin typeface="微軟正黑體"/>
              </a:rPr>
              <a:t>不准跌破的底線，不是要衝高的目標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5559552"/>
            <a:ext cx="11064240" cy="621792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5669280"/>
            <a:ext cx="105156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軟正黑體"/>
              </a:rPr>
              <a:t>試行 4 週的報告格式：「n 則意見被實際修掉，其中 m 則是已合併進主線的既有缺陷」—— 比率是佐證，案例才是論點。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19DA4"/>
                </a:solidFill>
                <a:latin typeface="微軟正黑體"/>
              </a:rPr>
              <a:t>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02A43"/>
                </a:solidFill>
                <a:latin typeface="微軟正黑體"/>
              </a:rPr>
              <a:t>下一步與所需支援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98448"/>
            <a:ext cx="11064240" cy="11430"/>
          </a:xfrm>
          <a:prstGeom prst="rect">
            <a:avLst/>
          </a:prstGeom>
          <a:solidFill>
            <a:srgbClr val="D8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35508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B7B"/>
                </a:solidFill>
                <a:latin typeface="微軟正黑體"/>
              </a:rPr>
              <a:t>sensAI ｜ 韌體 AI Code Review ｜ v0.5.1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55080"/>
            <a:ext cx="1005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B7B"/>
                </a:solidFill>
                <a:latin typeface="微軟正黑體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64592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B2633"/>
                </a:solidFill>
                <a:latin typeface="微軟正黑體"/>
              </a:rPr>
              <a:t>建議以一個專案小規模試行，用真實缺陷驗證效益，再決定是否推廣。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286000"/>
            <a:ext cx="35661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2286000"/>
            <a:ext cx="3566160" cy="73152"/>
          </a:xfrm>
          <a:prstGeom prst="rect">
            <a:avLst/>
          </a:prstGeom>
          <a:solidFill>
            <a:srgbClr val="119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578608"/>
            <a:ext cx="30540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450" b="1">
                <a:solidFill>
                  <a:srgbClr val="102A43"/>
                </a:solidFill>
                <a:latin typeface="微軟正黑體"/>
              </a:rPr>
              <a:t>第 1 階段　試行（4 週）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1B2633"/>
                </a:solidFill>
                <a:latin typeface="微軟正黑體"/>
              </a:rPr>
              <a:t>・指定 1〜2 個專案導入，由專案負責人補齊該專案規則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1B2633"/>
                </a:solidFill>
                <a:latin typeface="微軟正黑體"/>
              </a:rPr>
              <a:t>・追蹤指標：意見被實際修掉的比例（而非準確率 —— 準確率沒有 ground truth）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1B2633"/>
                </a:solidFill>
                <a:latin typeface="微軟正黑體"/>
              </a:rPr>
              <a:t>・目標：每位使用者每週至少 1 則被採納的意見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5967" y="2286000"/>
            <a:ext cx="35661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7" y="2286000"/>
            <a:ext cx="3566160" cy="73152"/>
          </a:xfrm>
          <a:prstGeom prst="rect">
            <a:avLst/>
          </a:prstGeom>
          <a:solidFill>
            <a:srgbClr val="1C44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1999" y="2578608"/>
            <a:ext cx="30540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450" b="1">
                <a:solidFill>
                  <a:srgbClr val="102A43"/>
                </a:solidFill>
                <a:latin typeface="微軟正黑體"/>
              </a:rPr>
              <a:t>第 2 階段　擴大（試行後評估）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1B2633"/>
                </a:solidFill>
                <a:latin typeface="微軟正黑體"/>
              </a:rPr>
              <a:t>・建立部門共用規則庫（private rules repository）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1B2633"/>
                </a:solidFill>
                <a:latin typeface="微軟正黑體"/>
              </a:rPr>
              <a:t>・把踩過的坑轉成規則，讓同一個錯不會被犯第二次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1B2633"/>
                </a:solidFill>
                <a:latin typeface="微軟正黑體"/>
              </a:rPr>
              <a:t>・評估是否納入 CI，於合併前先跑一次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65006" y="2286000"/>
            <a:ext cx="35661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5006" y="2286000"/>
            <a:ext cx="3566160" cy="73152"/>
          </a:xfrm>
          <a:prstGeom prst="rect">
            <a:avLst/>
          </a:prstGeom>
          <a:solidFill>
            <a:srgbClr val="D18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38" y="2578608"/>
            <a:ext cx="30540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450" b="1">
                <a:solidFill>
                  <a:srgbClr val="102A43"/>
                </a:solidFill>
                <a:latin typeface="微軟正黑體"/>
              </a:rPr>
              <a:t>所需支援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1B2633"/>
                </a:solidFill>
                <a:latin typeface="微軟正黑體"/>
              </a:rPr>
              <a:t>・核配一組共用模型端點（CCR）與額度，供團隊連線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1B2633"/>
                </a:solidFill>
                <a:latin typeface="微軟正黑體"/>
              </a:rPr>
              <a:t>・指定試行專案與該專案的規則維護人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1B2633"/>
                </a:solidFill>
                <a:latin typeface="微軟正黑體"/>
              </a:rPr>
              <a:t>・同意規則庫以部門私有 repository 管理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5650992"/>
            <a:ext cx="11064240" cy="566928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77900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微軟正黑體"/>
              </a:rPr>
              <a:t>一句話：工具已經做好了，真正的價值在規則 —— 需要的是一個試行專案，把團隊踩過的坑寫下來。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