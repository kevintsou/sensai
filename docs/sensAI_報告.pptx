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93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19DA4"/>
                </a:solidFill>
                <a:latin typeface="微軟正黑體"/>
              </a:rPr>
              <a:t>韌體開發效率提案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95728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/>
                </a:solidFill>
                <a:latin typeface="微軟正黑體"/>
              </a:rPr>
              <a:t>sensAI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456432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微軟正黑體"/>
              </a:rPr>
              <a:t>ARM / Andes AndeStar V5 韌體專用的 AI Code Review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A8C4D8"/>
                </a:solidFill>
                <a:latin typeface="微軟正黑體"/>
              </a:rPr>
              <a:t>把團隊的硬體知識寫成規則，在存檔當下就攔下缺陷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572000"/>
            <a:ext cx="2194560" cy="22860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864608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A8C4D8"/>
                </a:solidFill>
                <a:latin typeface="微軟正黑體"/>
              </a:rPr>
              <a:t>VS Code 擴充　v0.5.1　·　已在實機專案驗證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A8C4D8"/>
                </a:solidFill>
                <a:latin typeface="微軟正黑體"/>
              </a:rPr>
              <a:t>報告人：kevin.tsou　·　2026 年 9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一頁摘要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572768"/>
            <a:ext cx="260604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572768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700784"/>
            <a:ext cx="22951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D18616"/>
                </a:solidFill>
                <a:latin typeface="微軟正黑體"/>
              </a:rPr>
              <a:t>7 個月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194560"/>
            <a:ext cx="22951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實戰命中的潛伏缺陷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一行被註解掉的 return，存檔後 66 秒攔下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55848" y="1572768"/>
            <a:ext cx="260604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55848" y="1572768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57016" y="1700784"/>
            <a:ext cx="22951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66 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7016" y="2194560"/>
            <a:ext cx="22951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單檔完整審查耗時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自動觸發、背景執行，不影響編輯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44768" y="1572768"/>
            <a:ext cx="260604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44768" y="1572768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1700784"/>
            <a:ext cx="229514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10 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29514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團隊硬體規則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DMA cache／W1C／ISR／ABI，隨專案進版控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33688" y="1572768"/>
            <a:ext cx="269748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3688" y="1572768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34856" y="1700784"/>
            <a:ext cx="238658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0 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34856" y="2194560"/>
            <a:ext cx="238658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外購授權成本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自行開發，96 項自動化測試全數通過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054096"/>
            <a:ext cx="11064240" cy="9326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" y="3200400"/>
            <a:ext cx="105156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問題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B2633"/>
                </a:solidFill>
                <a:latin typeface="微軟正黑體"/>
              </a:rPr>
              <a:t>韌體缺陷的代價不在「寫錯」，在「三天後才在板子上發現」。DMA cache、W1C 暫存器、ISR 安全性、組語 ABI 這類問題屬於各專案的硬體知識，通用 AI 工具與 code review 都不一定看得出來。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4114800"/>
            <a:ext cx="5394960" cy="1993392"/>
          </a:xfrm>
          <a:prstGeom prst="rect">
            <a:avLst/>
          </a:prstGeom>
          <a:noFill/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4279392"/>
            <a:ext cx="49377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做法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・把團隊的硬體慣例寫成自然語言規則，隨專案進版控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・存檔且相對 git HEAD 有改動時自動審查，無需人工操作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・每則意見必須交代觸發條件、後果、程式碼依據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・只提供意見、不畫紅線、不自動改碼 —— 判斷權留在工程師手上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36208" y="4114800"/>
            <a:ext cx="5394960" cy="1993392"/>
          </a:xfrm>
          <a:prstGeom prst="rect">
            <a:avLst/>
          </a:prstGeom>
          <a:noFill/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10528" y="4279392"/>
            <a:ext cx="49377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目前狀態與請求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・v0.5.1 已可安裝使用，實機專案已驗證出真實缺陷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・開發至今 14 天、45 次提交、3,603 行程式碼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・請求：指定 1〜2 個試行專案，由該專案負責人補齊規則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・請求：核配一組共用模型端點（CCR）供團隊連線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為什麼韌體特別需要這件事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27632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缺陷的發現點離寫錯的地方很遠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B6B7B"/>
                </a:solidFill>
                <a:latin typeface="微軟正黑體"/>
              </a:rPr>
              <a:t>DMA 搬到過期資料、W1C 一次清掉別人的旗標，這些問題在編譯階段完全合法，通常要等到板子上出現偶發異常才被察覺，重現成本極高。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通用 AI 工具不知道你的 SoC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B6B7B"/>
                </a:solidFill>
                <a:latin typeface="微軟正黑體"/>
              </a:rPr>
              <a:t>「D-cache 是 write-back」「STATUS 是 write-one-to-clear」「_isr 結尾的變數不算共享」—— 這些是專案知識，不在任何模型的訓練資料裡。</a:t>
            </a:r>
          </a:p>
          <a:p>
            <a:pPr>
              <a:spcBef>
                <a:spcPts val="900"/>
              </a:spcBef>
              <a:spcAft>
                <a:spcPts val="2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人工 code review 會漏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5B6B7B"/>
                </a:solidFill>
                <a:latin typeface="微軟正黑體"/>
              </a:rPr>
              <a:t>右側是實際案例：一行被註解掉的 return，通過了 code review，在主線存活 7 個月。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627632"/>
            <a:ext cx="5230368" cy="411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828800"/>
            <a:ext cx="46817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實際案例：phal_sys.c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2286000"/>
            <a:ext cx="4681728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432304"/>
            <a:ext cx="43891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1B2633"/>
                </a:solidFill>
                <a:latin typeface="Consolas"/>
              </a:rPr>
              <a:t>U32 phal_sys_get_all_gpio_input_value(void)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B6B7B"/>
                </a:solidFill>
                <a:latin typeface="Consolas"/>
              </a:rPr>
              <a:t>{    ...</a:t>
            </a:r>
          </a:p>
          <a:p>
            <a:pPr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D18616"/>
                </a:solidFill>
                <a:latin typeface="Consolas"/>
              </a:rPr>
              <a:t>    //return ulInput;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Consolas"/>
              </a:rPr>
              <a:t>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703320"/>
            <a:ext cx="4681728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・宣告回傳 U32，卻沒有任何 return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・整個 GPIO 讀取迴圈會被編譯器整段優化掉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・呼叫端拿到的是暫存器殘值 —— 所有依賴 GPIO 輸入的判斷都建立在錯誤資料上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・git blame：7 個月前提交，至今仍在主線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運作方式：六個步驟，全自動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存檔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偵測 .c / .h / .s / .S
相對 git HEAD 無改動即跳過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95525" y="2414016"/>
            <a:ext cx="1280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0BCC8"/>
                </a:solidFill>
                <a:latin typeface="微軟正黑體"/>
              </a:rPr>
              <a:t>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14016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14016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78608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78608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組上下文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解析專案內 #include
深度 2、上限 120 KB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2613" y="2414016"/>
            <a:ext cx="1280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0BCC8"/>
                </a:solidFill>
                <a:latin typeface="微軟正黑體"/>
              </a:rPr>
              <a:t>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61104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25696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25696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套規則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依語言挑選 rules.yaml
組語另外注入 ABI 事實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701" y="2414016"/>
            <a:ext cx="1280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0BCC8"/>
                </a:solidFill>
                <a:latin typeface="微軟正黑體"/>
              </a:rPr>
              <a:t>›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08192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08192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72784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72784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模型審查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經 Claude Code Router
以 tool use 取回結構化結果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36789" y="2414016"/>
            <a:ext cx="1280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0BCC8"/>
                </a:solidFill>
                <a:latin typeface="微軟正黑體"/>
              </a:rPr>
              <a:t>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55280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55280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19872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19872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過濾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依據引用不到實際識別字者
直接濾除，不顯示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83877" y="2414016"/>
            <a:ext cx="12801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B0BCC8"/>
                </a:solidFill>
                <a:latin typeface="微軟正黑體"/>
              </a:rPr>
              <a:t>›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02368" y="1700784"/>
            <a:ext cx="1719072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02368" y="1700784"/>
            <a:ext cx="1719072" cy="64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66960" y="1929384"/>
            <a:ext cx="138988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9DA4"/>
                </a:solidFill>
                <a:latin typeface="微軟正黑體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66960" y="2322576"/>
            <a:ext cx="138988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面板呈現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側欄列出意見
不畫錯誤紅線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3840480"/>
            <a:ext cx="11064240" cy="19202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4041648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三層節流：不會因為頻繁存檔就狂送請求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68680" y="4480560"/>
            <a:ext cx="3246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去抖動 1,000 ms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存檔後等 1 秒沒有新存檔才送出。打字期間幾乎不送任何請求。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4480560"/>
            <a:ext cx="3246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合併重跑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同一檔案同時只跑一輪；期間進來的存檔合併成一次補跑，用最新內容。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37576" y="4480560"/>
            <a:ext cx="32461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連續觸發時降級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連打期間只看改動的行，停下來後自動補做完整審查 —— 是延後，不是放棄。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KEY DESIGN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差異化不在 AI，在規則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403" y="1618107"/>
            <a:ext cx="6877050" cy="3772230"/>
          </a:xfrm>
          <a:prstGeom prst="rect">
            <a:avLst/>
          </a:prstGeom>
          <a:noFill/>
          <a:ln w="9525">
            <a:solidFill>
              <a:srgbClr val="8A97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27632"/>
            <a:ext cx="6858000" cy="37531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54406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實機畫面：.sensai/rules.yaml —— 規則以自然語言撰寫，隨專案進版控，git pull 即生效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1664208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規則是團隊資產，不是工具的一部分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B7B"/>
                </a:solidFill>
                <a:latin typeface="微軟正黑體"/>
              </a:rPr>
              <a:t>規則放在專案 repo，不隨擴充散布，也不會外流。人員異動時，硬體慣例留在版控裡。</a:t>
            </a:r>
          </a:p>
          <a:p>
            <a:pPr>
              <a:spcBef>
                <a:spcPts val="1200"/>
              </a:spcBef>
              <a:spcAft>
                <a:spcPts val="2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不需要 DSL、不需要 AST matcher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B7B"/>
                </a:solidFill>
                <a:latin typeface="微軟正黑體"/>
              </a:rPr>
              <a:t>判斷者是模型，規則直接用中文寫。一組正反範例對準確度的提升，遠大於把規則寫更長。</a:t>
            </a:r>
          </a:p>
          <a:p>
            <a:pPr>
              <a:spcBef>
                <a:spcPts val="1200"/>
              </a:spcBef>
              <a:spcAft>
                <a:spcPts val="2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except 讓「不該報什麼」同案管理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B7B"/>
                </a:solidFill>
                <a:latin typeface="微軟正黑體"/>
              </a:rPr>
              <a:t>誤報的修正方式是改規則，不是關掉工具 —— 規則會越用越準。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26679" y="5010912"/>
            <a:ext cx="3904487" cy="89611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5175504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02A43"/>
                </a:solidFill>
                <a:latin typeface="微軟正黑體"/>
              </a:rPr>
              <a:t>目前 10 條規則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微軟正黑體"/>
              </a:rPr>
              <a:t>error 8 條 · warning 2 條 ｜ 另內建 2 組架構 ABI 事實（riscv32-andes-v5、armv7e-m）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KEY DESIGN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每則意見都要說得出「為什麼」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27632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50" b="0">
                <a:solidFill>
                  <a:srgbClr val="1B2633"/>
                </a:solidFill>
                <a:latin typeface="微軟正黑體"/>
              </a:rPr>
              <a:t>AI 最大的風險是講得頭頭是道但其實是錯的。sensAI 用結構強制模型交代清楚 —— 說不出具體失效情境的意見，模型自己就不會提。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395728"/>
            <a:ext cx="6583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395728"/>
            <a:ext cx="57150" cy="1005840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542032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觸發條件　—　什麼情況下會出事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B7B"/>
                </a:solidFill>
                <a:latin typeface="微軟正黑體"/>
              </a:rPr>
              <a:t>「編譯器的控制流程走到函式結尾時…」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538728"/>
            <a:ext cx="6583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3538728"/>
            <a:ext cx="57150" cy="1005840"/>
          </a:xfrm>
          <a:prstGeom prst="rect">
            <a:avLst/>
          </a:prstGeom>
          <a:solidFill>
            <a:srgbClr val="D18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685032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後果　—　會造成什麼影響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B7B"/>
                </a:solidFill>
                <a:latin typeface="微軟正黑體"/>
              </a:rPr>
              <a:t>「呼叫端拿到暫存器殘值，判斷建立在錯誤資料上」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681728"/>
            <a:ext cx="65836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4681728"/>
            <a:ext cx="57150" cy="1005840"/>
          </a:xfrm>
          <a:prstGeom prst="rect">
            <a:avLst/>
          </a:prstGeom>
          <a:solidFill>
            <a:srgbClr val="1C4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828032"/>
            <a:ext cx="60350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02A43"/>
                </a:solidFill>
                <a:latin typeface="微軟正黑體"/>
              </a:rPr>
              <a:t>依據　—　引用檔案中實際存在的行號與識別字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B6B7B"/>
                </a:solidFill>
                <a:latin typeface="微軟正黑體"/>
              </a:rPr>
              <a:t>「第 315 行 //return ulInput；第 306 行函式簽名」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06640" y="2395728"/>
            <a:ext cx="4224528" cy="32918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9248" y="2606040"/>
            <a:ext cx="365760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三道防線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① 結構約束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欄位填不滿就提不出意見，「建議加強錯誤處理」這類正確但無用的話會自己消失。</a:t>
            </a:r>
          </a:p>
          <a:p>
            <a:pPr>
              <a:spcBef>
                <a:spcPts val="1000"/>
              </a:spcBef>
              <a:spcAft>
                <a:spcPts val="3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② 事後過濾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依據引用不到檔案中真實存在的識別字者，直接濾除、不顯示。</a:t>
            </a:r>
          </a:p>
          <a:p>
            <a:pPr>
              <a:spcBef>
                <a:spcPts val="1000"/>
              </a:spcBef>
              <a:spcAft>
                <a:spcPts val="3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③ 呈現方式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結果只進側欄，不畫編輯器紅線 —— 紅線是斷言，AI 給不起那個確定性。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實機畫面：存檔即審查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7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403" y="1618107"/>
            <a:ext cx="7608570" cy="4576552"/>
          </a:xfrm>
          <a:prstGeom prst="rect">
            <a:avLst/>
          </a:prstGeom>
          <a:noFill/>
          <a:ln w="9525">
            <a:solidFill>
              <a:srgbClr val="8A97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627632"/>
            <a:ext cx="7589520" cy="45575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6236208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版面示意：以 src/panel.ts 的實際樣式重繪，意見內容取自 examples/uart_dma.c 檔尾列出的預期結果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0" y="1627632"/>
            <a:ext cx="2971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微軟正黑體"/>
              </a:rPr>
              <a:t>左：編輯器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行號、程式碼原封不動 —— 不覆寫、不自動修改。</a:t>
            </a:r>
          </a:p>
          <a:p>
            <a:pPr>
              <a:spcBef>
                <a:spcPts val="110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微軟正黑體"/>
              </a:rPr>
              <a:t>右：sensAI 側欄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檔名、意見數、附帶 header 數、耗時、濾除數、產出時間，一行交代完。</a:t>
            </a:r>
          </a:p>
          <a:p>
            <a:pPr>
              <a:spcBef>
                <a:spcPts val="110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微軟正黑體"/>
              </a:rPr>
              <a:t>每則意見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嚴重度、行號（可點擊跳轉）、命中的規則 id，再加觸發條件／後果／依據。</a:t>
            </a:r>
          </a:p>
          <a:p>
            <a:pPr>
              <a:spcBef>
                <a:spcPts val="1100"/>
              </a:spcBef>
              <a:spcAft>
                <a:spcPts val="200"/>
              </a:spcAft>
            </a:pPr>
            <a:r>
              <a:rPr sz="1300" b="1">
                <a:solidFill>
                  <a:srgbClr val="102A43"/>
                </a:solidFill>
                <a:latin typeface="微軟正黑體"/>
              </a:rPr>
              <a:t>兩個按鈕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「釘選」把重要意見固定在頂部、跨重啟保留；「這是誤報」本機立即靜音並留下記錄供調規則。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RESULT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實戰驗證：真實專案的真實缺陷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57403" y="1581531"/>
            <a:ext cx="7608570" cy="3138430"/>
          </a:xfrm>
          <a:prstGeom prst="rect">
            <a:avLst/>
          </a:prstGeom>
          <a:noFill/>
          <a:ln w="9525">
            <a:solidFill>
              <a:srgbClr val="8A97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91056"/>
            <a:ext cx="7589520" cy="31193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6928" y="4892040"/>
            <a:ext cx="7589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實機畫面：ws_fw / ps5032 專案 phal_sys.c —— 存檔後自動審查，一則 error 命中第 315 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0" y="1591056"/>
            <a:ext cx="3218688" cy="107899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0" y="1591056"/>
            <a:ext cx="34290" cy="1078992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3648" y="1719072"/>
            <a:ext cx="29077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D18616"/>
                </a:solidFill>
                <a:latin typeface="微軟正黑體"/>
              </a:rPr>
              <a:t>7 個月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3648" y="2212848"/>
            <a:ext cx="290779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缺陷潛伏時間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git blame：7 months ago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2779776"/>
            <a:ext cx="3218688" cy="107899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0" y="2779776"/>
            <a:ext cx="34290" cy="1078992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13648" y="2907792"/>
            <a:ext cx="29077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65.9 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13648" y="3401568"/>
            <a:ext cx="290779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從存檔到看見結果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附帶 18 個專案 header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3968496"/>
            <a:ext cx="3218688" cy="1078992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0" y="3968496"/>
            <a:ext cx="34290" cy="1078992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13648" y="4096512"/>
            <a:ext cx="29077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1 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13648" y="4590288"/>
            <a:ext cx="290779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意見數（非洗版）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同次審查未產生任何誤報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5230368"/>
            <a:ext cx="7589520" cy="86868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376672"/>
            <a:ext cx="7040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19DA4"/>
                </a:solidFill>
                <a:latin typeface="微軟正黑體"/>
              </a:rPr>
              <a:t>這個缺陷的意義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B2633"/>
                </a:solidFill>
                <a:latin typeface="微軟正黑體"/>
              </a:rPr>
              <a:t>它不是艱深的時序問題，而是一行被註解掉的 return —— 編譯器只給警告、code review 沒攔下、在主線活了 7 個月。這正是「人會漏、工具該補」的位置。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資安與治理：原始碼不會亂跑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645920"/>
            <a:ext cx="11064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7150" cy="102412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792224"/>
            <a:ext cx="7863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排除清單（never_send）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以 glob 指定機密路徑。受審檔案或它引用到的任何 header 命中，整次審查直接跳過，不外送任何內容。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199339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onsolas"/>
              </a:rPr>
              <a:t>src/secure/**　**/crypto/**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79776"/>
            <a:ext cx="11064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2779776"/>
            <a:ext cx="57150" cy="102412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926080"/>
            <a:ext cx="7863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稽核日誌（audit_log）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每次對外請求都寫一筆記錄，含結果。v0.5.1 起改為「送出即記錄」—— 失敗的請求也留痕，因為它同樣已經送出過原始碼。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312724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onsolas"/>
              </a:rPr>
              <a:t>.sensai/sent.log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13632"/>
            <a:ext cx="11064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913632"/>
            <a:ext cx="57150" cy="102412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059936"/>
            <a:ext cx="7863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端點自行掌握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模型端點由我方指定（Claude Code Router），可接內部或指定供應商；端點未啟動時靜默停用，不影響開發。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426110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onsolas"/>
              </a:rPr>
              <a:t>sensai.endpoint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047488"/>
            <a:ext cx="1106424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5047488"/>
            <a:ext cx="57150" cy="102412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193792"/>
            <a:ext cx="7863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規則不隨工具散布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規則留在專案 repo 或部門私有 rules repository，不打包進擴充、不上架 Marketplace。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539496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Consolas"/>
              </a:rPr>
              <a:t>.sensai/rules.yaml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619963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※ 未設定任何規則時，sensAI 只檢查語法與型別錯誤，不會做其他推論。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TOKEN FOOTPRINT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單次審查的實際用量：為什麼適合地端模型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以下 prompt 大小為實際產生後量測（npm run review -- &lt;檔案&gt; --show-prompt），非估計值。token 數以程式碼約 3.5〜4 bytes／token 換算。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103120"/>
            <a:ext cx="5989320" cy="3310128"/>
          </a:xfrm>
          <a:prstGeom prst="rect">
            <a:avLst/>
          </a:prstGeom>
          <a:noFill/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2860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單次請求的 prompt 大小（實測）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2670048"/>
            <a:ext cx="2651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B6B7B"/>
                </a:solidFill>
                <a:latin typeface="微軟正黑體"/>
              </a:rPr>
              <a:t>情境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670048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B6B7B"/>
                </a:solidFill>
                <a:latin typeface="微軟正黑體"/>
              </a:rPr>
              <a:t>bytes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670048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5B6B7B"/>
                </a:solidFill>
                <a:latin typeface="微軟正黑體"/>
              </a:rPr>
              <a:t>≈ tokens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" y="2926080"/>
            <a:ext cx="5303520" cy="9525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9264" y="3063240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C 檔（uart_dma.c ＋ 1 header ＋ 10 條規則）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08152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20,142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308152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5.0k〜5.8k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3611880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組語檔（uart_dma.s ＋ 內建 ABI 事實）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9039" y="36301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12,254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363016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3.1k〜3.5k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69264" y="4096512"/>
            <a:ext cx="5303520" cy="47548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160520"/>
            <a:ext cx="269748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02A43"/>
                </a:solidFill>
                <a:latin typeface="微軟正黑體"/>
              </a:rPr>
              <a:t>上下文預算滿載（硬上限）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49039" y="417880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D18616"/>
                </a:solidFill>
                <a:latin typeface="微軟正黑體"/>
              </a:rPr>
              <a:t>145,654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74920" y="4178808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D18616"/>
                </a:solidFill>
                <a:latin typeface="微軟正黑體"/>
              </a:rPr>
              <a:t>36k〜42k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69264" y="4736592"/>
            <a:ext cx="5303520" cy="5669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52144" y="4846320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軟正黑體"/>
              </a:rPr>
              <a:t>每次審查送出 1〜2 個請求（兩階段）；連續存檔期間降為 1 個。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12280" y="2103120"/>
            <a:ext cx="4818888" cy="331012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86600" y="2304288"/>
            <a:ext cx="4270248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為什麼這個形狀適合地端模型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上界是設定值，不是期望值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2633"/>
                </a:solidFill>
                <a:latin typeface="微軟正黑體"/>
              </a:rPr>
              <a:t>contextBudgetBytes 預設 120 KB 是硬上限，超過就截斷。單次請求的最大值可事先算出 —— 地端 GPU 的 context window 與顯存據此規劃即可。</a:t>
            </a:r>
          </a:p>
          <a:p>
            <a:pPr>
              <a:spcBef>
                <a:spcPts val="900"/>
              </a:spcBef>
              <a:spcAft>
                <a:spcPts val="30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單輪請求，沒有 agentic 迴圈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2633"/>
                </a:solidFill>
                <a:latin typeface="微軟正黑體"/>
              </a:rPr>
              <a:t>一次請求換一個回答。沒有 tool use 多輪探索把 token 一層層疊上去，也就沒有「這次特別貴」的意外。</a:t>
            </a:r>
          </a:p>
          <a:p>
            <a:pPr>
              <a:spcBef>
                <a:spcPts val="900"/>
              </a:spcBef>
              <a:spcAft>
                <a:spcPts val="30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不做全庫檢索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2633"/>
                </a:solidFill>
                <a:latin typeface="微軟正黑體"/>
              </a:rPr>
              <a:t>只帶當前檔案與它 #include 到的專案 header。不需要向量資料庫、不需要全庫索引、不需要 build system 整合。</a:t>
            </a:r>
          </a:p>
          <a:p>
            <a:pPr>
              <a:spcBef>
                <a:spcPts val="900"/>
              </a:spcBef>
              <a:spcAft>
                <a:spcPts val="30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負載隨存檔次數成長，不隨 repo 大小成長</a:t>
            </a:r>
          </a:p>
          <a:p>
            <a:pPr>
              <a:lnSpc>
                <a:spcPct val="12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B2633"/>
                </a:solidFill>
                <a:latin typeface="微軟正黑體"/>
              </a:rPr>
              <a:t>百萬行的專案與一萬行的專案，單次請求大小相同。容量規劃因此可行。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5559552"/>
            <a:ext cx="11064240" cy="621792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669280"/>
            <a:ext cx="10515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</a:rPr>
              <a:t>地端模型的前提是「用量可預測」。sensAI 的用量由設定值決定上界，不由程式碼庫規模或模型的探索意願決定。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目前進度：已可使用，非概念驗證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627632"/>
            <a:ext cx="265176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27632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755648"/>
            <a:ext cx="234086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14 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249424"/>
            <a:ext cx="23408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從構想到可用版本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2026/08/22 → 09/04　45 次提交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01568" y="1627632"/>
            <a:ext cx="265176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01568" y="1627632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02736" y="1755648"/>
            <a:ext cx="234086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3,603 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2736" y="2249424"/>
            <a:ext cx="23408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TypeScript　19 個模組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另有 1,495 行測試程式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36208" y="1627632"/>
            <a:ext cx="265176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36208" y="1627632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1755648"/>
            <a:ext cx="234086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96 / 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2249424"/>
            <a:ext cx="23408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自動化測試通過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涵蓋差異判定、上下文、過濾、節流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70848" y="1627632"/>
            <a:ext cx="2560320" cy="120700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70848" y="1627632"/>
            <a:ext cx="34290" cy="1207008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72016" y="1755648"/>
            <a:ext cx="2249424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02A43"/>
                </a:solidFill>
                <a:latin typeface="微軟正黑體"/>
              </a:rPr>
              <a:t>v0.5.1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2016" y="2249424"/>
            <a:ext cx="224942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1B2633"/>
                </a:solidFill>
                <a:latin typeface="微軟正黑體"/>
              </a:rPr>
              <a:t>目前版本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5B6B7B"/>
                </a:solidFill>
                <a:latin typeface="微軟正黑體"/>
              </a:rPr>
              <a:t>已可安裝於 VS Code 使用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1089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已完成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存檔自動審查（C 與組語）、手動審查指令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專案 header 自動解析與上下文預算控管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規則引擎、語言過濾、ABI 事實注入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三層節流、審查取消、結果保留不閃爍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釘選與筆記、誤報靜音與匯出報告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1B2633"/>
                </a:solidFill>
                <a:latin typeface="微軟正黑體"/>
              </a:rPr>
              <a:t>✓　隱私排除清單與稽核日誌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108960"/>
            <a:ext cx="5303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500" b="1">
                <a:solidFill>
                  <a:srgbClr val="102A43"/>
                </a:solidFill>
                <a:latin typeface="微軟正黑體"/>
              </a:rPr>
              <a:t>已知限制（誠實揭露）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B7B"/>
                </a:solidFill>
                <a:latin typeface="微軟正黑體"/>
              </a:rPr>
              <a:t>・多根工作區目前只讀取第一個資料夾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B7B"/>
                </a:solidFill>
                <a:latin typeface="微軟正黑體"/>
              </a:rPr>
              <a:t>・組語巨集不展開；上下文不足時要求模型保守不報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B7B"/>
                </a:solidFill>
                <a:latin typeface="微軟正黑體"/>
              </a:rPr>
              <a:t>・組語審查僅看單檔，抓不到跨檔的 C／組語簽章不一致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B7B"/>
                </a:solidFill>
                <a:latin typeface="微軟正黑體"/>
              </a:rPr>
              <a:t>・只提供意見，不產生也不套用修補程式</a:t>
            </a:r>
          </a:p>
          <a:p>
            <a:pPr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5B6B7B"/>
                </a:solidFill>
                <a:latin typeface="微軟正黑體"/>
              </a:rPr>
              <a:t>・尚未累積足夠樣本計算「意見被實際修掉的比例」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目前已有的數據與出處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B2633"/>
                </a:solidFill>
                <a:latin typeface="微軟正黑體"/>
              </a:rPr>
              <a:t>以下每個數字都可當場複查。現場使用數據（採納率、延遲分布、成本）要等導入後由稽核日誌自動累積 —— 今天還沒有。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121408"/>
            <a:ext cx="34290" cy="237744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4944" y="2139696"/>
            <a:ext cx="5376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19DA4"/>
                </a:solidFill>
                <a:latin typeface="微軟正黑體"/>
              </a:rPr>
              <a:t>產品規模與品質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432304"/>
            <a:ext cx="5376672" cy="31089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2496312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程式碼規模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22576" y="2487168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3,603 行 ／ 19 個模組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9391" y="25054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wc -l src/*.ts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" y="280720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測試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2576" y="2798064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96 項，全數通過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79391" y="2816352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npm test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054096"/>
            <a:ext cx="5376672" cy="31089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4944" y="3118104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開發期間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2576" y="3108960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14 天 ／ 45 次提交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79391" y="31272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git log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" y="3429000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目前版本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22576" y="3419856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v0.5.1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9391" y="3438144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package.json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3803904"/>
            <a:ext cx="34290" cy="237744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3822192"/>
            <a:ext cx="5376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19DA4"/>
                </a:solidFill>
                <a:latin typeface="微軟正黑體"/>
              </a:rPr>
              <a:t>規則與知識庫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6928" y="4114800"/>
            <a:ext cx="5376672" cy="31089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" y="417880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團隊規則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22576" y="4169664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10 條（error 8／warning 2）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79391" y="4187952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.sensai/rules.yaml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4944" y="4489704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架構 ABI 事實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22576" y="4480560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2 組（Andes V5／ARMv7E-M）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79391" y="44988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src/abi.ts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864608"/>
            <a:ext cx="34290" cy="237744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" y="4882896"/>
            <a:ext cx="5376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19DA4"/>
                </a:solidFill>
                <a:latin typeface="微軟正黑體"/>
              </a:rPr>
              <a:t>運作參數（預設值）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5175504"/>
            <a:ext cx="5376672" cy="31089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4944" y="5239512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存檔去抖動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22576" y="5230368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1,000 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79391" y="52486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sensai.debounceMs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" y="555040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上下文上限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22576" y="5541264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120 KB ／ include 深度 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79391" y="5559552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sensai.includeDepth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54496" y="2121408"/>
            <a:ext cx="34290" cy="237744"/>
          </a:xfrm>
          <a:prstGeom prst="rect">
            <a:avLst/>
          </a:prstGeom>
          <a:solidFill>
            <a:srgbClr val="D18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82512" y="2139696"/>
            <a:ext cx="5376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D18616"/>
                </a:solidFill>
                <a:latin typeface="微軟正黑體"/>
              </a:rPr>
              <a:t>實際執行觀測（樣本數 n＝1）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54496" y="2432304"/>
            <a:ext cx="5376672" cy="31089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2512" y="2496312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單檔審查耗時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0144" y="2487168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65.9 秒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66959" y="2505456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phal_sys.c 實機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82512" y="280720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附帶 header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10144" y="2798064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18 個（上下文已截斷）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6959" y="2816352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同上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54496" y="3054096"/>
            <a:ext cx="5376672" cy="31089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82512" y="3118104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產生意見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10144" y="3108960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1 則 error，無誤報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966959" y="3127248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同上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82512" y="3429000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命中缺陷潛伏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10144" y="3419856"/>
            <a:ext cx="1901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02A43"/>
                </a:solidFill>
                <a:latin typeface="微軟正黑體"/>
              </a:rPr>
              <a:t>7 個月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66959" y="3438144"/>
            <a:ext cx="15727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Consolas"/>
              </a:rPr>
              <a:t>git blame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54496" y="3858768"/>
            <a:ext cx="5376672" cy="1828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28816" y="4041648"/>
            <a:ext cx="4828032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300" b="1">
                <a:solidFill>
                  <a:srgbClr val="102A43"/>
                </a:solidFill>
                <a:latin typeface="微軟正黑體"/>
              </a:rPr>
              <a:t>為什麼右欄只有一筆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0">
                <a:solidFill>
                  <a:srgbClr val="1B2633"/>
                </a:solidFill>
                <a:latin typeface="微軟正黑體"/>
              </a:rPr>
              <a:t>稽核日誌（.sensai/sent.log）只在擴充於 VS Code 實際執行時才寫入，命令列工具不寫。目前僅有一次實機審查的觀測記錄。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5B6B7B"/>
                </a:solidFill>
                <a:latin typeface="微軟正黑體"/>
              </a:rPr>
              <a:t>導入後每次請求會自動記一筆，含 ts、file、outcome、headers、bytes、findings、dropped、durationMs —— 屆時右欄可由單點改為分布，覆蓋率、意見密度、過濾效果與成本也一併算得出來。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6928" y="594360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微軟正黑體"/>
              </a:rPr>
              <a:t>※ n＝1 的觀測不能拿來推論平均值。本頁左欄是可驗證的計數，右欄是單次觀測 —— 兩者的證據強度不同，報告時分開看。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DEPLOYMENT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部署狀況：已安裝 8 台開發機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B2633"/>
                </a:solidFill>
                <a:latin typeface="微軟正黑體"/>
              </a:rPr>
              <a:t>sensAI 沒有透過任何統一派送機制推送。這 8 台，是 8 位工程師各自決定安裝的結果。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103120"/>
            <a:ext cx="3310128" cy="33101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2487168"/>
            <a:ext cx="2743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600" b="1">
                <a:solidFill>
                  <a:srgbClr val="FFFFFF"/>
                </a:solidFill>
                <a:latin typeface="微軟正黑體"/>
              </a:rPr>
              <a:t>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81328" y="3858768"/>
            <a:ext cx="1463040" cy="22860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4114800"/>
            <a:ext cx="2743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FFFFFF"/>
                </a:solidFill>
                <a:latin typeface="微軟正黑體"/>
              </a:rPr>
              <a:t>台開發機已安裝</a:t>
            </a:r>
          </a:p>
          <a:p>
            <a:pPr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A8C4D8"/>
                </a:solidFill>
                <a:latin typeface="微軟正黑體"/>
              </a:rPr>
              <a:t>來源：VS Code 擴充頁安裝數
（可於擴充詳細頁當場複查）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078224" y="2103120"/>
            <a:ext cx="3657600" cy="3310128"/>
          </a:xfrm>
          <a:prstGeom prst="rect">
            <a:avLst/>
          </a:prstGeom>
          <a:noFill/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52544" y="2304288"/>
            <a:ext cx="3108960" cy="3017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這個數字的意義</a:t>
            </a:r>
          </a:p>
          <a:p>
            <a:pPr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全部為主動安裝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微軟正黑體"/>
              </a:rPr>
              <a:t>未納入任何統一派送。每一台都要工程師自己從 Marketplace 裝上去。</a:t>
            </a:r>
          </a:p>
          <a:p>
            <a:pPr>
              <a:spcBef>
                <a:spcPts val="1200"/>
              </a:spcBef>
              <a:spcAft>
                <a:spcPts val="30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零採購成本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微軟正黑體"/>
              </a:rPr>
              <a:t>自行開發，無授權費，安裝不需要走採購流程。</a:t>
            </a:r>
          </a:p>
          <a:p>
            <a:pPr>
              <a:spcBef>
                <a:spcPts val="1200"/>
              </a:spcBef>
              <a:spcAft>
                <a:spcPts val="30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零設定門檻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5B6B7B"/>
                </a:solidFill>
                <a:latin typeface="微軟正黑體"/>
              </a:rPr>
              <a:t>一個 Initialize Project 指令即建立專案設定，不需要 build system 整合。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36992" y="2103120"/>
            <a:ext cx="3694176" cy="331012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11312" y="2304288"/>
            <a:ext cx="314553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9DA4"/>
                </a:solidFill>
                <a:latin typeface="微軟正黑體"/>
              </a:rPr>
              <a:t>部署進程</a:t>
            </a:r>
          </a:p>
        </p:txBody>
      </p:sp>
      <p:sp>
        <p:nvSpPr>
          <p:cNvPr id="17" name="Oval 16"/>
          <p:cNvSpPr/>
          <p:nvPr/>
        </p:nvSpPr>
        <p:spPr>
          <a:xfrm>
            <a:off x="8211312" y="2834640"/>
            <a:ext cx="146304" cy="146304"/>
          </a:xfrm>
          <a:prstGeom prst="ellipse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22208" y="274320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開發驗證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752344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1 台</a:t>
            </a:r>
          </a:p>
        </p:txBody>
      </p:sp>
      <p:sp>
        <p:nvSpPr>
          <p:cNvPr id="20" name="Oval 19"/>
          <p:cNvSpPr/>
          <p:nvPr/>
        </p:nvSpPr>
        <p:spPr>
          <a:xfrm>
            <a:off x="8211312" y="3401568"/>
            <a:ext cx="146304" cy="146304"/>
          </a:xfrm>
          <a:prstGeom prst="ellipse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22208" y="3310128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目前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32720" y="3319272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102A43"/>
                </a:solidFill>
                <a:latin typeface="微軟正黑體"/>
              </a:rPr>
              <a:t>8 台</a:t>
            </a:r>
          </a:p>
        </p:txBody>
      </p:sp>
      <p:sp>
        <p:nvSpPr>
          <p:cNvPr id="23" name="Oval 22"/>
          <p:cNvSpPr/>
          <p:nvPr/>
        </p:nvSpPr>
        <p:spPr>
          <a:xfrm>
            <a:off x="8211312" y="3968496"/>
            <a:ext cx="146304" cy="146304"/>
          </a:xfrm>
          <a:prstGeom prst="ellipse">
            <a:avLst/>
          </a:prstGeom>
          <a:solidFill>
            <a:srgbClr val="B0B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22208" y="3877056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B7B"/>
                </a:solidFill>
                <a:latin typeface="微軟正黑體"/>
              </a:rPr>
              <a:t>試行專案全員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20" y="3886200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B7B"/>
                </a:solidFill>
                <a:latin typeface="微軟正黑體"/>
              </a:rPr>
              <a:t>待展開</a:t>
            </a:r>
          </a:p>
        </p:txBody>
      </p:sp>
      <p:sp>
        <p:nvSpPr>
          <p:cNvPr id="26" name="Oval 25"/>
          <p:cNvSpPr/>
          <p:nvPr/>
        </p:nvSpPr>
        <p:spPr>
          <a:xfrm>
            <a:off x="8211312" y="4535424"/>
            <a:ext cx="146304" cy="146304"/>
          </a:xfrm>
          <a:prstGeom prst="ellipse">
            <a:avLst/>
          </a:prstGeom>
          <a:solidFill>
            <a:srgbClr val="B0B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22208" y="4443984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B7B"/>
                </a:solidFill>
                <a:latin typeface="微軟正黑體"/>
              </a:rPr>
              <a:t>部門推廣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332720" y="4453128"/>
            <a:ext cx="1051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B6B7B"/>
                </a:solidFill>
                <a:latin typeface="微軟正黑體"/>
              </a:rPr>
              <a:t>待評估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11312" y="5084064"/>
            <a:ext cx="31455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安裝數不等於活躍台數。每週仍在產生審查記錄的台數，需收回稽核日誌後才算得出。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5559552"/>
            <a:ext cx="11064240" cy="621792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669280"/>
            <a:ext cx="1051560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</a:rPr>
              <a:t>下一個里程碑：試行專案全員部署 —— 目標是讓部署台數從「自己找到的人」變成「整個專案的標準配備」。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19DA4"/>
                </a:solidFill>
                <a:latin typeface="微軟正黑體"/>
              </a:rPr>
              <a:t>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58368"/>
            <a:ext cx="108813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02A43"/>
                </a:solidFill>
                <a:latin typeface="微軟正黑體"/>
              </a:rPr>
              <a:t>下一步與所需支援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98448"/>
            <a:ext cx="11064240" cy="11430"/>
          </a:xfrm>
          <a:prstGeom prst="rect">
            <a:avLst/>
          </a:prstGeom>
          <a:solidFill>
            <a:srgbClr val="D8D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355080"/>
            <a:ext cx="5486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sensAI ｜ 韌體 AI Code Review ｜ v0.5.1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355080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6B7B"/>
                </a:solidFill>
                <a:latin typeface="微軟正黑體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64592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B2633"/>
                </a:solidFill>
                <a:latin typeface="微軟正黑體"/>
              </a:rPr>
              <a:t>建議以一個專案小規模試行，用真實缺陷驗證效益，再決定是否推廣。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286000"/>
            <a:ext cx="35661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66928" y="2286000"/>
            <a:ext cx="3566160" cy="73152"/>
          </a:xfrm>
          <a:prstGeom prst="rect">
            <a:avLst/>
          </a:prstGeom>
          <a:solidFill>
            <a:srgbClr val="119D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578608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第 1 階段　試行（4 週）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・指定 1〜2 個專案導入，由專案負責人補齊該專案規則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・追蹤指標：部署台數，以及每週仍在產生審查記錄的台數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・目標：試行專案全員部署，成為專案標準配備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7" y="2286000"/>
            <a:ext cx="35661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7" y="2286000"/>
            <a:ext cx="3566160" cy="73152"/>
          </a:xfrm>
          <a:prstGeom prst="rect">
            <a:avLst/>
          </a:prstGeom>
          <a:solidFill>
            <a:srgbClr val="1C44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1999" y="2578608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第 2 階段　擴大（試行後評估）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・建立部門共用規則庫（private rules repository）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・把踩過的坑轉成規則，讓同一個錯不會被犯第二次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・評估是否納入 CI，於合併前先跑一次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65006" y="2286000"/>
            <a:ext cx="35661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F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65006" y="2286000"/>
            <a:ext cx="3566160" cy="73152"/>
          </a:xfrm>
          <a:prstGeom prst="rect">
            <a:avLst/>
          </a:prstGeom>
          <a:solidFill>
            <a:srgbClr val="D186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38" y="2578608"/>
            <a:ext cx="30540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450" b="1">
                <a:solidFill>
                  <a:srgbClr val="102A43"/>
                </a:solidFill>
                <a:latin typeface="微軟正黑體"/>
              </a:rPr>
              <a:t>所需支援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・核配一組共用模型端點（CCR）與額度，供團隊連線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・指定試行專案與該專案的規則維護人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1B2633"/>
                </a:solidFill>
                <a:latin typeface="微軟正黑體"/>
              </a:rPr>
              <a:t>・同意規則庫以部門私有 repository 管理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650992"/>
            <a:ext cx="11064240" cy="566928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77900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軟正黑體"/>
              </a:rPr>
              <a:t>一句話：工具已經做好了，真正的價值在規則 —— 需要的是一個試行專案，把團隊踩過的坑寫下來。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